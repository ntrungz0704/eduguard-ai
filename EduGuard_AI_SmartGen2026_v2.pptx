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0" y="3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Độ chính xác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2-4D5C-81A0-DB9ED152863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7E2-4D5C-81A0-DB9ED152863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7E2-4D5C-81A0-DB9ED152863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7E2-4D5C-81A0-DB9ED1528638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7E2-4D5C-81A0-DB9ED1528638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7E2-4D5C-81A0-DB9ED15286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Kỹ năng
làm việc</c:v>
                </c:pt>
                <c:pt idx="1">
                  <c:v>Tiếng Anh
1.1</c:v>
                </c:pt>
                <c:pt idx="2">
                  <c:v>PHP
cơ bản</c:v>
                </c:pt>
                <c:pt idx="3">
                  <c:v>Dự án
tốt nghiệp</c:v>
                </c:pt>
                <c:pt idx="4">
                  <c:v>Chính
trị</c:v>
                </c:pt>
                <c:pt idx="5">
                  <c:v>Nhập môn
CNTT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94.8</c:v>
                </c:pt>
                <c:pt idx="2">
                  <c:v>94.6</c:v>
                </c:pt>
                <c:pt idx="3">
                  <c:v>92.2</c:v>
                </c:pt>
                <c:pt idx="4">
                  <c:v>85.7</c:v>
                </c:pt>
                <c:pt idx="5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7E2-4D5C-81A0-DB9ED15286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40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92608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EduGuard AI  —  SmartGen AI Challenge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Cảnh Báo Sớm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Can Thiệp Học Vụ Tự Động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816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Trí Tuệ Nhân Tạo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3383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Polytechnic  | 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2011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Sinh Viên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42032" y="3749040"/>
            <a:ext cx="2011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 Chính Xác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3749040"/>
            <a:ext cx="20116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Môn Học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4576" y="3749040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94576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Nỗi Đau Thực Tế Của Ngành Giáo Dục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đặt ra: Tại sao sinh viên rớt môn dù học không tệ?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50876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54864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"Hơn 30% sinh viên rớt môn không phải vì học dở —</a:t>
            </a:r>
            <a:endParaRPr lang="en-US" sz="2200" dirty="0"/>
          </a:p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 vì họ KHÔNG BIẾT mình sắp rớt cho đến khi đã quá muộn."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633472"/>
            <a:ext cx="2651760" cy="22128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33472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📉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nợ môn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879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nhận ra lỗ hổng kiến thức đến lúc thi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33472"/>
            <a:ext cx="2651760" cy="22128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633472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😓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00400" y="3310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29184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 vấn / Sinh viên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1879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tải — không thể quan tâm từng cá nhân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633472"/>
            <a:ext cx="2651760" cy="22128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633472"/>
            <a:ext cx="265176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💤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035040" y="33101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126480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được khai thác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41879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 dòng điểm số bị bỏ phí, không dự báo gì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Vòng Luẩn Quẩn Hiện Tại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giáo dục đang chạy theo hậu quả thay vì ngăn chặn từ đầu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2468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học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mình đang yếu môn nào lõi nhất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87168" y="1051560"/>
            <a:ext cx="2011680" cy="2468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051560"/>
            <a:ext cx="2011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😰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78608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rớt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3591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quá muộn sau kỳ thi, không còn thời gian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44568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0016" y="1051560"/>
            <a:ext cx="2011680" cy="2468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051560"/>
            <a:ext cx="20116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0016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📞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791456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cố vấn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23591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 vấn bận với 500 sv khác — phản hồi sau vài tuần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57416" y="210312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444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12864" y="1051560"/>
            <a:ext cx="2011680" cy="24688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2864" y="1051560"/>
            <a:ext cx="20116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1051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1417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🔁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004304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 lại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04304" y="2359152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trạng tiếp diễn kỳ sau, không có giải pháp cốt lõi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67328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quả: Tỷ lệ nợ môn cao, sinh viên mất động lực, nhà trường tốn chi phí đào tạo lại,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bị quá tải với công việc tư vấn thủ công không hiệu quả.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Cố Vấn Học Vụ Truyền Thống — Không Còn Đủ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mô hình hiện tại không giải quyết được bài toán?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1A080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02336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Mô Hình Cũ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  1 cố vấn lo cho 500+ sinh viên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Họp định kỳ 1 lần/học kỳ — quá chậm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05456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Báo cáo thủ công mất hàng tuần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35808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723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Không có dữ liệu dự báo tương lai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566160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Sinh viên phải chủ động xin gặp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096512"/>
            <a:ext cx="3749040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133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❗  Phát hiện vấn đề sau khi đã rớt môn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70832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⟹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983480" y="1005840"/>
            <a:ext cx="3840480" cy="384048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83480" y="1005840"/>
            <a:ext cx="38404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005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EduGuard 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444752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24/7 — 1 cố vấn ảo cho mỗi SV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1975104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1208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Cảnh báo tức thì khi phát hiện rủi 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505456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12080" y="25420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thời gian thực — không cần báo cáo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035808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0" y="3072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Dự báo trước khi thi — hành động kịp thời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566160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12080" y="36027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Model chủ động liên hệ sinh viên qua Inbox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4096512"/>
            <a:ext cx="3566160" cy="45720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12080" y="4133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Ngăn chặn rớt môn ngay từ tuần học thứ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4"/>
          </a:solidFill>
          <a:ln w="12700">
            <a:solidFill>
              <a:srgbClr val="080C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Tầm Nhìn EduGuard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"Chúng tôi mang đến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sinh viên một Cố Vấn Học Vụ Ảo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tuấn trực 24/7 — chỉ dành riêng cho em."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96596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38328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" y="40050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rủi ro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một bác sĩ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383280"/>
            <a:ext cx="196596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338328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51760" y="40050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gia sư riêng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383280"/>
            <a:ext cx="196596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338328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40050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một robot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3383280"/>
            <a:ext cx="1965960" cy="1463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3383280"/>
            <a:ext cx="1965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474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49440" y="4005072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 bảng điều khiển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🔴  Red Alert — Cảnh Báo Đỏ Thông Minh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EduGuard phát hiện nguy cơ rớt môn từ rất sớm — trước cả kỳ thi giữa kỳ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141732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8138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 EduGuard dự đoán sinh viên rớt môn chính xác trên 92%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ngay từ tuần thứ 3 — dù sinh viên đó CHƯA hề thi giữa kỳ!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8412480" cy="685800"/>
          </a:xfrm>
          <a:prstGeom prst="rect">
            <a:avLst/>
          </a:prstGeom>
          <a:solidFill>
            <a:srgbClr val="1A080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4203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Giám khảo sẽ hỏi: Chưa thi thì lấy dữ liệu đâu mà đoán?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Vũ khí Q&amp;A: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67588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KHÔNG dùng điểm môn hiện tại. Thay vào đó, AI phân tích điểm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các Môn Tiên Quyết (Prerequisites) — ví dụ yếu C/C++ kéo theo yếu Java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Phong độ học tập qua các học kỳ để tìm ra lỗ hổng kiến thức cốt lõi.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Giao Diện Dashboard — Admin View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toàn lớp trong tích tắc — 649 sinh viên, 34 môn, 520 lượt rớt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Tra Cứu Học Vụ &amp; Cảnh Báo Cá Nhân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quét định kỳ và phát hiện sinh viên nguy cơ — cảnh báo ngay lập tức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🎯  1-Click AI Roadmap — Can Thiệp Thông Minh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giảng viên xây dựng 100 lộ trình cá nhân hóa cho 100 sinh viên — 1 Click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132588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8138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1 Click chuột → 100 lộ trình học tập cá nhân hóa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thẳng vào Inbox của 100 sinh viên khác nhau!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640080"/>
          </a:xfrm>
          <a:prstGeom prst="rect">
            <a:avLst/>
          </a:prstGeom>
          <a:solidFill>
            <a:srgbClr val="140A1A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50592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Giám khảo sẽ hỏi: 1 Click thì có phải gửi tin nhắn spam giống nhau cho tất cả không?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004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Vũ khí Q&amp;A: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547872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Không! 1 click đó kích hoạt LLM (Trained Model). Model 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đọc lịch sử từng em: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A yếu hàm (function) → nhận email phân tích riêng về kiến thức hàm + bài tập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 B yếu vòng lặp (for loop) → nhận email về vòng lặp + lộ trình khắc phục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sinh viên = 100 bức thư hoàn toàn khác biệt, được cá nhân hóa 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bởi</a:t>
            </a:r>
            <a:r>
              <a:rPr lang="en-US" sz="120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Quản Lý Can Thiệp Khép Kín — 3 Giai Đoạn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từng sinh viên từ lúc có nguy cơ đến khi vượt khó thành công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Trợ Lý AI 24/7 — Cố Vấn Học Vụ Thông Minh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toàn bộ điểm số, phân tích điểm yếu và tư vấn lộ trình cải thiện tức thì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⏰  "Cỗ Máy Thời Gian" — What-If Simulator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phép sinh viên nhìn thấy tương lai GPA của mình để tự cứu lấy mình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132588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8138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"Cỗ máy thời gian": Sinh viên kéo thanh trượt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tính toán ngay tức thì GPA tương lai + Xếp hạng trong lớp!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594360"/>
          </a:xfrm>
          <a:prstGeom prst="rect">
            <a:avLst/>
          </a:prstGeom>
          <a:solidFill>
            <a:srgbClr val="06141A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45059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4203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Giám khảo sẽ hỏi: "Cỗ máy thời gian" nghe hơi ảo — thực ra là gì?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🗝️  Vũ khí Q&amp;A: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8412480" cy="1481328"/>
          </a:xfrm>
          <a:prstGeom prst="rect">
            <a:avLst/>
          </a:prstGeom>
          <a:solidFill>
            <a:srgbClr val="0D28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49300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 là công cụ What-If Simulator. Sinh viên tự kéo thanh trượt giả lập điểm: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được 5đ → GPA rớt hạng ra sao? Có mất học bổng không?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cố lên 8đ → Xếp hạng trong lớp tăng thế nào? Top mấy?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Gamification này tạo động lực cạnh tranh thực tế — sinh viên thấy rõ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quả/thành quả của từng con điểm thay vì những con số khô khan.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Student Portal — Góc Nhìn Sinh Viên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thấy GPA, phong độ, dự báo học kỳ, và nhận tư vấn cá nhân hóa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Gia Sư AI — Cố Vấn Riêng Cho Sinh Viên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học bạ cá nhân, phân tích điểm yếu và tư vấn trực tiếp 24/7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Pearson Matrix — Bản Đồ Tương Quan Học Thuật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lỗ hổng kiến thức dây chuyền — AI Engine Core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Luồng Dữ Liệu — Từ Raw Data đến Quyết Định AI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Machine Learning → UI/UX — Pipeline hoàn toàn tự động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572768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5727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Môn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83664" y="20116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⟹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29968" y="1051560"/>
            <a:ext cx="1572768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051560"/>
            <a:ext cx="157276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29968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29968" y="23591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20116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⟹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785616" y="1051560"/>
            <a:ext cx="1572768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051560"/>
            <a:ext cx="15727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785616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HK-Pearson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85616" y="23591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0116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⟹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541264" y="1051560"/>
            <a:ext cx="1572768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1264" y="1051560"/>
            <a:ext cx="1572768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541264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41264" y="23591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50608" y="2011680"/>
            <a:ext cx="109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</a:rPr>
              <a:t>⟹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296912" y="1051560"/>
            <a:ext cx="1572768" cy="26517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96912" y="1051560"/>
            <a:ext cx="157276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118872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296912" y="18288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296912" y="23591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1A0F3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950208"/>
            <a:ext cx="8321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Pipeline tự động hoàn toàn: Khi giảng viên upload file Excel/CSV mới, hệ thống tự động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toàn bộ phân tích và cập nhật Dashboard — không cần thao tác thủ công nào thêm.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Kiến Trúc Hệ Thống — Client-Server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nhẹ, chạy cục bộ, không cần GPU đắt tiền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1463040"/>
            <a:ext cx="54864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08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— Tải nhanh, SPA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05740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057400"/>
            <a:ext cx="54864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— Dark Mode, Glassmorphism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65176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651760"/>
            <a:ext cx="54864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97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Biểu đồ Radar, Area, Bar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324612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246120"/>
            <a:ext cx="54864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91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— Gọi API bất đồng bộ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1005840"/>
            <a:ext cx="2743200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00584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146304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1463040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508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API server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205740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2057400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— Truy vấn tối ưu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64408" y="265176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64408" y="2651760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697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Database cục bộ 4MB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64408" y="324612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64408" y="3246120"/>
            <a:ext cx="54864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291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 — Không sập khi tải cao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1005840"/>
            <a:ext cx="2743200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005840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005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44768" y="146304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4768" y="1463040"/>
            <a:ext cx="5486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15087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HK-Pearson V2.1 — Dự báo điểm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44768" y="205740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2057400"/>
            <a:ext cx="5486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103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Filter — Lọc dữ liệu nhiễu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44768" y="265176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2651760"/>
            <a:ext cx="5486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6974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— LLM Chatbot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44768" y="3246120"/>
            <a:ext cx="2523744" cy="512064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44768" y="3246120"/>
            <a:ext cx="5486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2918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SD-Stretching — Hiệu chuẩn thống kê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AI Core — Gemini LLM Tích Hợp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 sinh nội dung tư vấn cá nhân hóa cho từng sinh viên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Quy trình AI sinh Roadmap cá nhân hóa: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0116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55448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toàn bộ bảng điểm của sinh viên — từng môn, từng kỳ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21488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42032" y="1417320"/>
            <a:ext cx="20116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42032" y="141732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1554480"/>
            <a:ext cx="3474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42032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33472" y="22677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môn yếu nhất + Truy ngược môn tiên quyết bị hổng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21488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18304" y="1417320"/>
            <a:ext cx="20116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18304" y="1417320"/>
            <a:ext cx="2011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554480"/>
            <a:ext cx="34747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9744" y="22677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Prompt cá nhân hóa gửi đến Gemini API với context riêng của SV đó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75704" y="2148840"/>
            <a:ext cx="9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3AED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894576" y="1417320"/>
            <a:ext cx="201168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94576" y="141732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78624" y="1554480"/>
            <a:ext cx="3474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78624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94576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86016" y="22677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lộ trình cải thiện bay thẳng vào Inbox — không ai nhận giống 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364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Ví dụ Prompt Template: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639312"/>
            <a:ext cx="8412480" cy="1261872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703320"/>
            <a:ext cx="8229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"Sinh viên [TÊN] lớp [LỚP], điểm yếu nhất là [MÔN], nguyên nhân: thiếu nền tảng [MÔN_TIÊN_QUYẾT].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Hãy tạo lộ trình cải thiện 4 tuần cụ thể, thân thiện và cá nhân hóa bằng tiếng Việt..."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Stack Công Nghệ — Hiện Đại &amp; Mạnh Mẽ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 công nghệ tối ưu cho từng tầng hệ thống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0848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3385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95681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568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1945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cực nhanh, Hot Module Reload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87168" y="102412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024128"/>
            <a:ext cx="20848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13385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66420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90088" y="195681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0088" y="19568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1945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Glassmorphism design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0016" y="102412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024128"/>
            <a:ext cx="20848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113385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73168" y="166420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02936" y="195681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2936" y="19568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73168" y="21945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Radar, Area, Bar charts động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12864" y="102412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2864" y="1024128"/>
            <a:ext cx="20848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113385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86016" y="166420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15784" y="195681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15784" y="19568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86016" y="21945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xử lý Pipeline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80720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807208"/>
            <a:ext cx="20848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91693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🔷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47472" y="34472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" y="373989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373989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" y="3977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queries, migration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87168" y="280720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87168" y="2807208"/>
            <a:ext cx="20848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87168" y="291693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2560320" y="34472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90088" y="373989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0088" y="373989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60320" y="3977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Nhẹ, cục bộ, không cần server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0016" y="280720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0016" y="2807208"/>
            <a:ext cx="20848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291693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4773168" y="34472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202936" y="373989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02936" y="373989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73168" y="3977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sinh nội dung cá nhân hóa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912864" y="2807208"/>
            <a:ext cx="2084832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912864" y="2807208"/>
            <a:ext cx="208483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12864" y="291693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6986016" y="34472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HK-Pearson V2.1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415784" y="3739896"/>
            <a:ext cx="1078992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15784" y="373989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986016" y="39776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độ chính xác 92.3%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Thuật Toán AI — HK-Pearson V2.1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bước xử lý thông minh — không chỉ là hồi quy thông thường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33856"/>
            <a:ext cx="420624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3385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7824" y="116128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Knowledge Network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KW=1.0 cho môn tiên quyết, KW=0.2 cho môn khác. Ép AI tuân thủ sơ đồ chương trình học chuẩn.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3931920" cy="42062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34086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 = 1.0 (tiên quyết)  |  KW = 0.2 (khác)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420624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1133856"/>
            <a:ext cx="420624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13385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21224" y="116128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Filter — Tukey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1600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bỏ điểm bất thường (bỏ thi, chuyển điểm) bằng khoảng tứ phân vị. Đường hồi quy không bị kéo lệch.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04288"/>
            <a:ext cx="3931920" cy="42062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82312" y="234086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Ngưỡng = [Q1 − 1.5×IQR,  Q3 + 1.5×IQR]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71800"/>
            <a:ext cx="42062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099816"/>
            <a:ext cx="420624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0998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7824" y="312724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 Số Thích Ứng 1.5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3566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lũy thừa 1.5 thay vì bình phương để tránh một môn chiếm trọn trọng số dự báo.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270248"/>
            <a:ext cx="3931920" cy="42062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" y="430682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 = KWᵢ × |rᵢ|^1.5   →   ŷ = Σ(Wᵢ/ΣWₖ × (aᵢ+bᵢxᵢ))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971800"/>
            <a:ext cx="4206240" cy="18288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2971800"/>
            <a:ext cx="4206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27448" y="3099816"/>
            <a:ext cx="420624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30998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21224" y="3127248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SD-Stretching Calibration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54880" y="3566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Khắc phục Attenuation Bias: kéo giãn phổ dự báo về đúng phân phối thực, AI dám đoán điểm cực cao/thấp.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270248"/>
            <a:ext cx="3931920" cy="42062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82312" y="430682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ŷ_cal = μ_real + min(1.6, σ_real/σ_pred) × (ŷ_raw − μ_pred)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Kết Quả Kiểm Định — LOOCV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 Cross-Validation trên 100 sinh viên — số liệu thực tế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TB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00584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±0.77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Điểm lệch TB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00584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≤ 0.5 điểm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201168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00584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097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74.2%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03136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≤ 1.0 điểm</a:t>
            </a:r>
            <a:endParaRPr lang="en-US" sz="95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212848"/>
          <a:ext cx="859536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Kiểm Thử &amp; Tính Ổn Định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được test toàn diện — từ thuật toán đến UI/UX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16052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6128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🗂️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87552" y="1188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thực tế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với bộ dữ liệu 649 sinh viên, 34 môn học từ FPT Polytechnic — không dùng dữ liệu giả lập ngẫu nhiên.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24128"/>
            <a:ext cx="416052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24128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6128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76672" y="1188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xử lý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1618488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tương quan 34 môn học, 649 sinh viên hoàn thành trong &lt; 0.5 giây. Cache Layer giảm 80% lần gọi DB.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62656"/>
            <a:ext cx="416052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62656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981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87552" y="31272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3557016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hoạt động hoàn hảo trên Desktop, Tablet, Mobile — Glassmorphism Dark Mode được tối ưu toàn diện.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62656"/>
            <a:ext cx="4160520" cy="17830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62656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09981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376672" y="31272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toàn vẹn dữ liệu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800600" y="3557016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đảm bảo tính nhất quán dữ liệu. Fuzzy Matching chuẩn hóa tên môn học từ nhiều định dạng Excel khác nhau.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Mô Hình Triển Khai — SaaS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gói dạng dịch vụ — tích hợp dễ dàng cho bất kỳ trường nào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265176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78992"/>
            <a:ext cx="2651760" cy="329184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Trường Nhỏ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9751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lớp học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Tối đa 50 SV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192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cơ bản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822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cảnh báo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950976"/>
            <a:ext cx="2852928" cy="3950208"/>
          </a:xfrm>
          <a:prstGeom prst="rect">
            <a:avLst/>
          </a:prstGeom>
          <a:solidFill>
            <a:srgbClr val="4C1D95"/>
          </a:solidFill>
          <a:ln w="254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95097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PHỔ BIẾN NHẤT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1207008"/>
            <a:ext cx="285292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72968" y="1207008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Trường Trung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2968" y="1591056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172968" y="21031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64408" y="244144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Không giới hạn lớp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64408" y="294436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Toàn bộ tính năng 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64408" y="34472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LLM Integration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64408" y="39502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1-Click Email Roadmap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17336" y="1051560"/>
            <a:ext cx="2651760" cy="37490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1078992"/>
            <a:ext cx="26517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10789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Hệ thống Lớn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17336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17336" y="19751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08776" y="2313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API Integration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281635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08776" y="33192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 nâng cao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08776" y="38221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Hỗ trợ 24/7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Chỉ Số KPI — Tác Động Dự Kiến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số cụ thể về giá trị EduGuard mang lại cho nhà trường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01168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tỷ lệ nợ môn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005840"/>
            <a:ext cx="201168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00584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50592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96312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thời gian GV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005840"/>
            <a:ext cx="201168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00584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672584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 can thiệp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005840"/>
            <a:ext cx="2011680" cy="14173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00584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1155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03136" y="15361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48856" y="20299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 tư vấn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50592"/>
            <a:ext cx="2011680" cy="12344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2514600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thiệp sớm từ tuần 3 — không còn phát hiện muộn sau kỳ thi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2450592"/>
            <a:ext cx="2011680" cy="12344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42032" y="2514600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báo cáo, email, phân tích — GV tập trung vào giảng dạy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450592"/>
            <a:ext cx="2011680" cy="12344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18304" y="2514600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sinh viên nhận lộ trình và email riêng biệt — không ai giống ai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2450592"/>
            <a:ext cx="2011680" cy="123444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94576" y="2514600"/>
            <a:ext cx="18288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thay thế công việc lặp lại — cố vấn chỉ xử lý ca phức tạp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822192"/>
            <a:ext cx="8595360" cy="1078992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886200"/>
            <a:ext cx="8321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Ngoài ra: Sinh viên chủ động hơn (+35% tỷ lệ truy cập hệ thống), giảng viên hài lòng cao hơn (+90%), phụ huynh có thể theo dõi tiến độ học tập của con em theo thời gian thực.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Bảo Mật Dữ Liệu Sinh Viên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là tài sản nhạy cảm — EduGuard cam kết bảo vệ tuyệt đối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281635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6128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Mã hóa dữ liệu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4533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thông tin sinh viên được mã hóa AES-256 khi lưu trữ và TLS 1.3 khi truyền tải.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02412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024128"/>
            <a:ext cx="2816352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6128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Phân quyền rõ ràng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4533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cấp độ: Admin (xem tất cả), Giảng viên (xem lớp mình), Sinh viên (xem hồ sơ cá nhân).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02412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024128"/>
            <a:ext cx="28163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16128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Xác thực an toàn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54533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có thời hạn, Refresh Token rotation — không lưu mật khẩu dạng plaintext.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44368"/>
            <a:ext cx="28163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815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Tuân thủ quy định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46557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theo nguyên tắc Privacy by Design — chỉ thu thập dữ liệu tối thiểu cần thiết.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94436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944368"/>
            <a:ext cx="281635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815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Backup &amp; Recovery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6557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backup định kỳ. Khôi phục dữ liệu trong &lt; 5 phút khi có sự cố hệ thống.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944368"/>
            <a:ext cx="2816352" cy="175564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2944368"/>
            <a:ext cx="2816352" cy="6400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081528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 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465576"/>
            <a:ext cx="2596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lại toàn bộ thao tác truy cập dữ liệu — biết ai xem gì, lúc nào, từ đâu.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Tính Khả Thi — Triển Khai Thực Tế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EduGuard đã chạy được — không phải ý tưởng suông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111556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có mã nguồn chạy được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44475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React, Backend Express, AI Engine — tất cả đã được code và test thực tế.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thực từ FPT Polytechnic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144475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 sinh viên, 34 môn học — không phải dữ liệu giả lập hay mock data.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3172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060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244144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tích hợp thành công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77063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đã kết nối và trả lời được câu hỏi dựa trên học bạ cụ thể của từng sinh viên.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3172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060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66360" y="244144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triển khai thấp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77063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trên VPS $5-10/tháng, không cần GPU. Gemini API có free tier đủ cho trường nhỏ.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65760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5760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9319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77240" y="3767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mở rộng (Scalable)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409651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trường mới chỉ cần upload file Excel mới — hệ thống tự học và cập nhật.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57600"/>
            <a:ext cx="416052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57600"/>
            <a:ext cx="43891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9319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66360" y="3767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Pilot trong 30 ngày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096512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dataset thực có sẵn, có thể triển khai thử nghiệm tại FPT Polytechnic ngay tháng tới.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Lộ Trình Phát Triển — 3 Giai Đoạn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MVP đến SaaS — kế hoạch rõ ràng, khả thi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61488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61488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(Hiện tại)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270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Dashboard Admin GV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002536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4825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Cảnh báo đỏ Red Alert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523744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694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1-Click AI Roadmap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3044952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906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Student Portal + GPA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566160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611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Gemini Chatbot tích hợp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1847088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1005840"/>
            <a:ext cx="2761488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1005840"/>
            <a:ext cx="2761488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10058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(3-6 tháng)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1481328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64992" y="15270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tự động định kỳ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002536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64992" y="204825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 sinh viên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2523744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64992" y="25694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Báo cáo cho Phụ huynh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91840" y="3044952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64992" y="30906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Push Notification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566160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64992" y="3611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Bảng xếp hạng lớp học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39312" y="4160520"/>
            <a:ext cx="184708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9312" y="41605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phát triển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9904" y="1005840"/>
            <a:ext cx="2761488" cy="384048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1005840"/>
            <a:ext cx="276148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1005840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SaaS (6-12 tháng)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9632" y="1481328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72784" y="15270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Auto-Quiz lấp lỗ hổng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99632" y="2002536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72784" y="204825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Sentiment Analysis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99632" y="2523744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72784" y="256946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Multi-school support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99632" y="3044952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72784" y="30906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Open API cho trường khác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99632" y="3566160"/>
            <a:ext cx="2542032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72784" y="361188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White-label Dashboard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547104" y="4160520"/>
            <a:ext cx="1847088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7104" y="41605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3 Giá Trị Cốt Lõi — EduGuard AI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gọn điều khiến chúng tôi khác biệt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816352" cy="3858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81635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⚡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Intelligence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2633472" cy="22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700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Phân tích 649 SV trong &lt; 0.5s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Cảnh báo tức thì khi phát hiện rủi ro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Dashboard cập nhật theo thời gian thực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27832" y="1005840"/>
            <a:ext cx="2816352" cy="3858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27832" y="1005840"/>
            <a:ext cx="281635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09728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227832" y="178308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 TUỆ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27832" y="224028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9272" y="2578608"/>
            <a:ext cx="2633472" cy="22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6700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HK-Pearson V2.1 — 92.3% chính xác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31272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Gemini LLM tạo sinh nội dung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64992" y="35844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Pearson Matrix tìm lỗ hổng dây chuyền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1005840"/>
            <a:ext cx="2816352" cy="385876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1005840"/>
            <a:ext cx="281635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097280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181344" y="1783080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81344" y="224028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2784" y="2578608"/>
            <a:ext cx="2633472" cy="228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6700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Mỗi SV nhận email riêng biệt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18504" y="31272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Gia sư AI hiểu học bạ cá nhân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18504" y="358444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What-If Simulator cho từng SV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Tính Năng Tương Lai — Chúng Tôi Đang Phát Triển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EduGuard không dừng lại ở đây — lộ trình đổi mới không ngừng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228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1874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Auto-Quiz Engine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75888" y="1143000"/>
            <a:ext cx="65836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1143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tự phát hiện lỗ hổng và sinh ra 10 câu trắc nghiệm cá nhân mỗi ngày để sinh viên ôn luyện. Học qua thực hành thay vì đọc tài liệu.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60520" cy="1874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1605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1430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Sentiment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1143000"/>
            <a:ext cx="65836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143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Q4/2026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155448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đọc cảm xúc trong tin nhắn của sinh viên, phát hiện sớm áp lực thi cử, nguy cơ bỏ học để cảnh báo cho nhà trường can thiệp kịp thời.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60520" cy="1874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4160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54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Gamification Leaderboard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75888" y="3154680"/>
            <a:ext cx="65836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3154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3566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xếp hạng học tập thời gian thực theo lớp/khóa. Huy hiệu thành tích. Điểm thưởng cho chuỗi điểm tốt. Biến học tập thành trò chơi.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160520" cy="18745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1752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154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Multi-school SaaS Platform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65008" y="3154680"/>
            <a:ext cx="65836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5008" y="31546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73168" y="3566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thành nền tảng SaaS cho các trường Đại học, Cao đẳng khu vực phía Nam. API mở cho các đơn vị muốn tích hợp.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5669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🛡️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138988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EduGuard AI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"Từ dữ liệu thô đến quyết định đúng đắn —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bảo vệ hành trình học tập của từng sinh viên."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35808"/>
            <a:ext cx="7315200" cy="914400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272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 chính xác  ·  649 sinh viên  ·  Gemini AI  ·  React + Node.js  ·  LOOCV validated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930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SmartGen AI Challenge 2026  —  FPT Polytechnic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4133088"/>
            <a:ext cx="512064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41330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Cảm ơn Ban Giám Khảo! Chúng em sẵn sàng giải đáp!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SLIDE — Thuật Toán HK-Pearson V2.1 Chi Tiết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66928"/>
            <a:ext cx="43891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66928"/>
            <a:ext cx="438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6583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Weight (KW)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950976"/>
            <a:ext cx="7955280" cy="51206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98755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KW = 1.0 (tiên quyết trực tiếp)  |  KW = 0.2 (môn khác)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859536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64208"/>
            <a:ext cx="43891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64208"/>
            <a:ext cx="438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17556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Filter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048256"/>
            <a:ext cx="7955280" cy="51206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0848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Lọc = [Q1 − 1.5 × IQR,   Q3 + 1.5 × IQR]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61488"/>
            <a:ext cx="859536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61488"/>
            <a:ext cx="43891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61488"/>
            <a:ext cx="438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8529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Weight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145536"/>
            <a:ext cx="7955280" cy="51206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18211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 = KWᵢ × |rᵢ|^1.5   →   ŷ_raw = Σ (Wᵢ/ΣWₖ) × (aᵢ + bᵢxᵢ)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859536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58768"/>
            <a:ext cx="43891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858768"/>
            <a:ext cx="4389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39502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SD-Stretching Calibration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242816"/>
            <a:ext cx="7955280" cy="512064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427939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ŷ_cal = μ_real + min(1.6, σ_real/σ_pred) × (ŷ_raw − μ_pred)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Bảng Kiểm Định LOOCV Đầy Đủ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3392424" cy="31089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Môn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749040" y="502920"/>
            <a:ext cx="1060704" cy="31089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502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KT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92040" y="502920"/>
            <a:ext cx="1106424" cy="31089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50292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Lệch ≤ 0.5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502920"/>
            <a:ext cx="1014984" cy="31089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502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78040" y="502920"/>
            <a:ext cx="1655064" cy="31089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5029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841248"/>
            <a:ext cx="3392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84124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năng làm việc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841248"/>
            <a:ext cx="106070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8412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841248"/>
            <a:ext cx="1106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412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841248"/>
            <a:ext cx="101498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8412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841248"/>
            <a:ext cx="165506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841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335024"/>
            <a:ext cx="3392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33502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Anh 1.1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335024"/>
            <a:ext cx="106070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1335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1335024"/>
            <a:ext cx="1106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3350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1335024"/>
            <a:ext cx="101498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33502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1335024"/>
            <a:ext cx="165506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33502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1828800"/>
            <a:ext cx="3392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1828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PHP cơ bản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1828800"/>
            <a:ext cx="106070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1828800"/>
            <a:ext cx="1106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80760" y="1828800"/>
            <a:ext cx="101498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18288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78040" y="1828800"/>
            <a:ext cx="165506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1828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322576"/>
            <a:ext cx="3392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3225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tốt nghiệp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49040" y="2322576"/>
            <a:ext cx="106070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23225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92040" y="2322576"/>
            <a:ext cx="1106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080760" y="2322576"/>
            <a:ext cx="101498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32257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78040" y="2322576"/>
            <a:ext cx="165506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23225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2816352"/>
            <a:ext cx="3392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8163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PHP 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749040" y="2816352"/>
            <a:ext cx="106070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94760" y="28163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92040" y="2816352"/>
            <a:ext cx="1106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28163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80760" y="2816352"/>
            <a:ext cx="101498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281635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178040" y="2816352"/>
            <a:ext cx="165506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2816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3310128"/>
            <a:ext cx="3392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3101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749040" y="3310128"/>
            <a:ext cx="106070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94760" y="33101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92040" y="3310128"/>
            <a:ext cx="1106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37760" y="33101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45.0%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80760" y="3310128"/>
            <a:ext cx="101498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33101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3310128"/>
            <a:ext cx="165506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23760" y="3310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91.5%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3803904"/>
            <a:ext cx="3392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380390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 trị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749040" y="3803904"/>
            <a:ext cx="106070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94760" y="38039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4892040" y="3803904"/>
            <a:ext cx="110642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937760" y="38039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6080760" y="3803904"/>
            <a:ext cx="101498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26480" y="380390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78040" y="3803904"/>
            <a:ext cx="1655064" cy="45720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223760" y="380390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4297680"/>
            <a:ext cx="3392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4297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môn CNTT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749040" y="4297680"/>
            <a:ext cx="106070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79476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892040" y="4297680"/>
            <a:ext cx="110642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37760" y="4297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080760" y="4297680"/>
            <a:ext cx="101498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42976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7178040" y="4297680"/>
            <a:ext cx="1655064" cy="45720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223760" y="4297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87.0%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Cấu Trúc Mã Nguồn (Q&amp;A Code)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4389120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40080"/>
            <a:ext cx="83210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eduguard-ai/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client/                     # Frontend — React + Vite + Tailwind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src/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pages/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Dashboard.jsx   # Tổng quan lớp học, Top 10 môn nguy cơ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StudentSearch.jsx   # Danh sách + AI Alert tự động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Intervention.jsx    # Quản lý can thiệp 3 giai đoạn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Predict.jsx         # Pearson Matrix + AI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GPA.jsx             # What-If Simulator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StudentPortal.jsx   # Góc nhìn sinh viên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store.js            # Zustand — State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server/                     # Backend — Express + Node.js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ai/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regression.js       # ★ HK-Pearson V2.1 — CORE AI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validation.js       # LOOCV cross-validation helpers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routes/api.js           # RESTful API endpoints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services/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aiService.js        # AI pipeline bridge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promptService.js    # Gemini prompt 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dataService.js      # Excel parser + Fuzzy matching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data/training_data.json     # 649 SV × 34 môn — training dataset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Ví Dụ Prompt Gemini Thực Tế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4297680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58368"/>
            <a:ext cx="8321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promptService.js — Thực tế trong mã nguồn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prompt = `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Bạn là Cố vấn Học vụ AI của trường FPT Polytechnic.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THÔNG TIN SINH VIÊN: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Tên: ${student.name} | MSSV: ${student.id} | Lớp: ${student.class}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GPA hiện tại: ${student.gpa} | Xếp loại: ${student.rank}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Môn yếu nhất: ${weakSubject.name} (điểm: ${weakSubject.score})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Nguyên nhân gốc rễ: Yếu môn tiên quyết "${prerequisite.name}" (điểm: ${prerequisite.score})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YÊU CẦU: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Hãy viết một email tư vấn học tập cá nhân hóa: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Mở đầu thân thiện, gọi tên sinh viên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Phân tích nguyên nhân cụ thể tại sao em đang gặp khó khăn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Lộ trình cải thiện 4 tuần với tài nguyên học tập cụ thể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Kết thúc khích lệ, tạo động lực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Viết bằng tiếng Việt, giọng điệu của người thầy quan tâm.`;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gemini.generateContent(prompt);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Pearson Correlation &amp; Regression Code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4297680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58368"/>
            <a:ext cx="8321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regression.js — HK-Pearson V2.1 Core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pearsonCorrelation(x, y)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 = x.length;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sumX = x.reduce((a,b) =&gt; a+b,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sumY = y.reduce((a,b) =&gt; a+b,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sumXY = x.reduce((acc, xi, i) =&gt; acc + xi * y[i],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sumX2 = x.reduce((acc, xi) =&gt; acc + xi*xi,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sumY2 = y.reduce((acc, yi) =&gt; acc + yi*yi, 0);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(n*sumXY - sumX*sumY) /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Math.sqrt((n*sumX2 - sumX**2) * (n*sumY2 - sumY**2));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Adaptive Weight với Knowledge Weight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weight = (kw, r) =&gt; kw * Math.abs(r) ** 1.5;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SD-Stretching Calibration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 = Math.min(1.6, stdReal / stdPred);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calibrated = meanReal + k * (rawPred - meanPred);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IQR Filter để loại bỏ outlier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q1 = percentile(data, 25), q3 = percentile(data, 75);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iqr = q3 - q1;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filtered = data.filter(x =&gt; x &gt;= q1-1.5*iqr &amp;&amp; x &lt;= q3+1.5*iqr);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Tại Sao Không Dùng Rule-Based?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02920"/>
            <a:ext cx="2066544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423160" y="502920"/>
            <a:ext cx="2340864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5029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502920"/>
            <a:ext cx="2706624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5029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502920"/>
            <a:ext cx="1197864" cy="329184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5029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 Chọn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859536"/>
            <a:ext cx="206654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8595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rủi 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23160" y="859536"/>
            <a:ext cx="2340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85953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khi điểm &lt; X (cứng nhắc)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859536"/>
            <a:ext cx="270662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85953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từ pattern tiên quyết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35240" y="859536"/>
            <a:ext cx="1197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85953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481328"/>
            <a:ext cx="206654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48132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hóa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1481328"/>
            <a:ext cx="2340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481328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— một luật cho tất cả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481328"/>
            <a:ext cx="270662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48132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sinh viên phân tích riêng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1481328"/>
            <a:ext cx="1197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481328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103120"/>
            <a:ext cx="206654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10312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cập nhật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23160" y="2103120"/>
            <a:ext cx="2340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2103120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code lại khi data thay đổi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103120"/>
            <a:ext cx="270662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103120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học từ data mới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2103120"/>
            <a:ext cx="1197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2103120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724912"/>
            <a:ext cx="206654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7249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giải kết quả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23160" y="2724912"/>
            <a:ext cx="2340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272491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bạch — luật rõ ràng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2724912"/>
            <a:ext cx="270662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724912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(Pearson r)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35240" y="2724912"/>
            <a:ext cx="1197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2724912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346704"/>
            <a:ext cx="206654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3467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triển khai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23160" y="3346704"/>
            <a:ext cx="2340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3346704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 — chỉ cần lập trình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346704"/>
            <a:ext cx="270662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346704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data + compute (nhỏ)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635240" y="3346704"/>
            <a:ext cx="1197864" cy="58521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3346704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968496"/>
            <a:ext cx="206654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96849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23160" y="3968496"/>
            <a:ext cx="2340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68880" y="3968496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với luật tốt, thấp với edge case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46320" y="3968496"/>
            <a:ext cx="270662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96849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 LOOCV — đã kiểm định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635240" y="3968496"/>
            <a:ext cx="1197864" cy="585216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3968496"/>
            <a:ext cx="1143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HIDDEN — Schema Database &amp; Data Model (Q&amp;A)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566928"/>
            <a:ext cx="8595360" cy="4297680"/>
          </a:xfrm>
          <a:prstGeom prst="rect">
            <a:avLst/>
          </a:prstGeom>
          <a:solidFill>
            <a:srgbClr val="0A0A18"/>
          </a:solidFill>
          <a:ln w="6350">
            <a:solidFill>
              <a:srgbClr val="30363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658368"/>
            <a:ext cx="8321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prisma/schema.prisma — Database Schema thực tế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Student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String   @id @default(cuid())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studentId  String   @unique   // MSSV: PS23116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      String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scores     Score[]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  DateTime @default(now())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Course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   String   @id @default(cuid())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        String   @unique   // MON001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String             // "Lập trình PHP 1"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credits     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prerequisites String[]          // ["MON002", "MON003"]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scores       Score[]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Score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 String  @id @default(cuid())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  Student @relation(fields: [studentId], references: [id])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course    Course  @relation(fields: [courseId], references: [id])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    Float   // Điểm thực tế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predicted Float?  // Điểm AI dự đoán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semester  Int     // Học kỳ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training_data.json: 649 records × 34 features — flat JSON for ML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4444</Words>
  <Application>Microsoft Office PowerPoint</Application>
  <PresentationFormat>On-screen Show (16:9)</PresentationFormat>
  <Paragraphs>642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EduGuard AI — SmartGen AI Challenge 2026</dc:title>
  <dc:subject>PptxGenJS Presentation</dc:subject>
  <dc:creator>PptxGenJS</dc:creator>
  <cp:lastModifiedBy>Trung Nguyễn</cp:lastModifiedBy>
  <cp:revision>3</cp:revision>
  <dcterms:created xsi:type="dcterms:W3CDTF">2026-05-21T17:17:17Z</dcterms:created>
  <dcterms:modified xsi:type="dcterms:W3CDTF">2026-05-22T05:49:42Z</dcterms:modified>
</cp:coreProperties>
</file>