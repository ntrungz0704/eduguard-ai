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8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1450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6" name="Google Shape;33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0" name="Google Shape;48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3" name="Google Shape;51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2" name="Google Shape;56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9" name="Google Shape;61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9" name="Google Shape;65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5" name="Google Shape;70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4" name="Google Shape;73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8" name="Google Shape;76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7" name="Google Shape;79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0" name="Google Shape;85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5" name="Google Shape;92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e5467d015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3" name="Google Shape;953;g3e5467d015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g3e5467d015b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6" name="Google Shape;98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" name="Google Shape;18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9120" y="0"/>
            <a:ext cx="4754878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4114800" y="0"/>
            <a:ext cx="457200" cy="5143500"/>
          </a:xfrm>
          <a:prstGeom prst="rect">
            <a:avLst/>
          </a:prstGeom>
          <a:solidFill>
            <a:srgbClr val="060D1A"/>
          </a:solidFill>
          <a:ln w="12700" cap="flat" cmpd="sng">
            <a:solidFill>
              <a:srgbClr val="060D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060D1A"/>
          </a:solidFill>
          <a:ln w="12700" cap="flat" cmpd="sng">
            <a:solidFill>
              <a:srgbClr val="060D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457200" y="777240"/>
            <a:ext cx="2560320" cy="347472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  <a:effectLst>
            <a:outerShdw blurRad="279400" dist="50800" dir="5400000" algn="bl" rotWithShape="0">
              <a:srgbClr val="3B82F6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7772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  </a:t>
            </a:r>
            <a:r>
              <a:rPr lang="en-US" sz="1100" b="1" i="0" u="none" strike="noStrike" cap="none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EduGuard</a:t>
            </a: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AI  —  </a:t>
            </a:r>
            <a:r>
              <a:rPr lang="en-US" sz="1100" b="1" i="0" u="none" strike="noStrike" cap="none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SmartGen</a:t>
            </a: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AI 2026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1298448"/>
            <a:ext cx="54864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lang="en-US" sz="6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EduGuard AI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2267712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Hybrid Explainable Educational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57200" y="2651760"/>
            <a:ext cx="5943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Early Warning DSS Platform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3127248"/>
            <a:ext cx="3474720" cy="36576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57200" y="3216827"/>
            <a:ext cx="5943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None/>
            </a:pPr>
            <a:r>
              <a:rPr lang="en-US" sz="1600" b="1" i="1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"Phát hiện sớm sinh viên có nguy cơ rớt môn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None/>
            </a:pPr>
            <a:r>
              <a:rPr lang="en-US" sz="1600" b="1" i="1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trước khi quá muộn."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57200" y="3875210"/>
            <a:ext cx="59436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FPT Polytechnic  |  [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EduGuard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AI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SVTH | PS47261: Nguyễn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Phạm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Thành Trung</a:t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     PS47348: Nguyễn Minh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Hiếu</a:t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          PS47503: Mai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Thị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Vỹ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An</a:t>
            </a:r>
            <a:endParaRPr sz="11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4603907"/>
            <a:ext cx="2057400" cy="329100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457200" y="4603907"/>
            <a:ext cx="2057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Dự báo rủi ro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2633472" y="4603907"/>
            <a:ext cx="2057400" cy="329100"/>
          </a:xfrm>
          <a:prstGeom prst="rect">
            <a:avLst/>
          </a:prstGeom>
          <a:solidFill>
            <a:srgbClr val="14532D"/>
          </a:solidFill>
          <a:ln w="12700" cap="flat" cmpd="sng">
            <a:solidFill>
              <a:srgbClr val="14532D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2633472" y="4603907"/>
            <a:ext cx="2057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Giải thích được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809744" y="4603907"/>
            <a:ext cx="2057400" cy="329100"/>
          </a:xfrm>
          <a:prstGeom prst="rect">
            <a:avLst/>
          </a:prstGeom>
          <a:solidFill>
            <a:srgbClr val="1E1B4B"/>
          </a:solidFill>
          <a:ln w="12700" cap="flat" cmpd="sng">
            <a:solidFill>
              <a:srgbClr val="1E1B4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4809744" y="4603907"/>
            <a:ext cx="2057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 NLP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986016" y="4603907"/>
            <a:ext cx="2057400" cy="329100"/>
          </a:xfrm>
          <a:prstGeom prst="rect">
            <a:avLst/>
          </a:prstGeom>
          <a:solidFill>
            <a:srgbClr val="4C1D95"/>
          </a:solidFill>
          <a:ln w="12700" cap="flat" cmpd="sng">
            <a:solidFill>
              <a:srgbClr val="4C1D95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986016" y="4603907"/>
            <a:ext cx="20574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Phân quyền RBAC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D765F8-CC33-7709-6918-DF8E6F543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VẤN ĐỀ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Vấn Đề Thực Tế Trong Giáo Dục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1078992"/>
            <a:ext cx="8229600" cy="804672"/>
          </a:xfrm>
          <a:prstGeom prst="rect">
            <a:avLst/>
          </a:prstGeom>
          <a:solidFill>
            <a:srgbClr val="1A0808"/>
          </a:solidFill>
          <a:ln w="9525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94360" y="1133856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📅  Timeline điển hình: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359152" y="1152144"/>
            <a:ext cx="1170432" cy="603504"/>
          </a:xfrm>
          <a:prstGeom prst="rect">
            <a:avLst/>
          </a:prstGeom>
          <a:solidFill>
            <a:srgbClr val="3B0A0A"/>
          </a:solidFill>
          <a:ln w="12700" cap="flat" cmpd="sng">
            <a:solidFill>
              <a:srgbClr val="7F1D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359152" y="1152144"/>
            <a:ext cx="11704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Đi học kém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3621024" y="1152144"/>
            <a:ext cx="1170432" cy="603504"/>
          </a:xfrm>
          <a:prstGeom prst="rect">
            <a:avLst/>
          </a:prstGeom>
          <a:solidFill>
            <a:srgbClr val="3B0A0A"/>
          </a:solidFill>
          <a:ln w="12700" cap="flat" cmpd="sng">
            <a:solidFill>
              <a:srgbClr val="7F1D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621024" y="1152144"/>
            <a:ext cx="11704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Nghỉ học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882896" y="1152144"/>
            <a:ext cx="1170432" cy="603504"/>
          </a:xfrm>
          <a:prstGeom prst="rect">
            <a:avLst/>
          </a:prstGeom>
          <a:solidFill>
            <a:srgbClr val="3B0A0A"/>
          </a:solidFill>
          <a:ln w="12700" cap="flat" cmpd="sng">
            <a:solidFill>
              <a:srgbClr val="7F1D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882896" y="1152144"/>
            <a:ext cx="11704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Rớt môn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144768" y="1152144"/>
            <a:ext cx="1170432" cy="603504"/>
          </a:xfrm>
          <a:prstGeom prst="rect">
            <a:avLst/>
          </a:prstGeom>
          <a:solidFill>
            <a:srgbClr val="450A0A"/>
          </a:solidFill>
          <a:ln w="12700" cap="flat" cmpd="sng">
            <a:solidFill>
              <a:srgbClr val="7F1D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144768" y="1152144"/>
            <a:ext cx="11704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 Nợ môn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406640" y="1152144"/>
            <a:ext cx="1170432" cy="603504"/>
          </a:xfrm>
          <a:prstGeom prst="rect">
            <a:avLst/>
          </a:prstGeom>
          <a:solidFill>
            <a:srgbClr val="7F1D1D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7406640" y="1152144"/>
            <a:ext cx="11704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→  Bỏ học 😔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57200" y="2011680"/>
            <a:ext cx="2029968" cy="245059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57200" y="2011680"/>
            <a:ext cx="2029968" cy="54864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57200" y="2103120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😓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30352" y="2788920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Cố vấn quá tải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30352" y="3127248"/>
            <a:ext cx="1883664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người quản lý 200+ sinh viên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Theo dõi thủ công = bất khả thi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2633472" y="2011680"/>
            <a:ext cx="2029968" cy="245059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2633472" y="2011680"/>
            <a:ext cx="2029968" cy="54864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633472" y="2103120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706624" y="2788920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Phát hiện quá muộn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2706624" y="3127248"/>
            <a:ext cx="1883664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Cuối kỳ mới biết sinh viên yếu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Mọi can thiệp đã vô nghĩa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809744" y="2011680"/>
            <a:ext cx="2029968" cy="245059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809744" y="2011680"/>
            <a:ext cx="2029968" cy="54864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809744" y="2103120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882896" y="2788920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Dữ liệu rời rạc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882896" y="3127248"/>
            <a:ext cx="1883664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Điểm nằm trên LMS, CMS,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Attendance, Quiz, Assignment...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986016" y="2011680"/>
            <a:ext cx="2029968" cy="245059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6986016" y="2011680"/>
            <a:ext cx="2029968" cy="54864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6986016" y="2103120"/>
            <a:ext cx="202996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🚫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7059168" y="2788920"/>
            <a:ext cx="1883664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Không có cảnh báo sớm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7059168" y="3127248"/>
            <a:ext cx="1883664" cy="126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Không hệ thống nào phát hiện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nguy cơ trước khi quá muộn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8" name="Picture 4" descr="Office database - free Icon PNG, SVG">
            <a:extLst>
              <a:ext uri="{FF2B5EF4-FFF2-40B4-BE49-F238E27FC236}">
                <a16:creationId xmlns:a16="http://schemas.microsoft.com/office/drawing/2014/main" id="{5F6DF981-FAEC-258F-6E28-AC751A443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3204" y="2161864"/>
            <a:ext cx="563048" cy="56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F2F0522-A142-C12A-B166-CE5F8E43B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VẤN ĐỀ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Các Giải Pháp Hiện Tại Chưa Đủ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" y="1005839"/>
            <a:ext cx="8339328" cy="45719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457200" y="1115568"/>
            <a:ext cx="4224528" cy="329184"/>
          </a:xfrm>
          <a:prstGeom prst="rect">
            <a:avLst/>
          </a:prstGeom>
          <a:solidFill>
            <a:srgbClr val="232D42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548640" y="1115568"/>
            <a:ext cx="404164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Giải Pháp Hiện Tại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4864608" y="1115568"/>
            <a:ext cx="3931920" cy="329184"/>
          </a:xfrm>
          <a:prstGeom prst="rect">
            <a:avLst/>
          </a:prstGeom>
          <a:solidFill>
            <a:srgbClr val="7F1D1D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4956048" y="1115568"/>
            <a:ext cx="404164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Vấn Đề Còn Tồn Tại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457200" y="1481328"/>
            <a:ext cx="4224528" cy="65836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594360" y="1591056"/>
            <a:ext cx="39136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🔲  Excel thủ công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864608" y="1481328"/>
            <a:ext cx="3931920" cy="658368"/>
          </a:xfrm>
          <a:prstGeom prst="rect">
            <a:avLst/>
          </a:prstGeom>
          <a:solidFill>
            <a:srgbClr val="1A080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4864608" y="1481328"/>
            <a:ext cx="36576" cy="658368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956048" y="1591056"/>
            <a:ext cx="376732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✗  Quá chậm, sai sót nhiều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" y="2231136"/>
            <a:ext cx="4224528" cy="65836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594360" y="2340864"/>
            <a:ext cx="39136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🔲  Chatbot GPT thông thường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864608" y="2231136"/>
            <a:ext cx="3931920" cy="658368"/>
          </a:xfrm>
          <a:prstGeom prst="rect">
            <a:avLst/>
          </a:prstGeom>
          <a:solidFill>
            <a:srgbClr val="1A080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4864608" y="2231136"/>
            <a:ext cx="36576" cy="658368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956048" y="2340864"/>
            <a:ext cx="376732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-US" sz="1200" b="0" i="0" u="none" strike="noStrike" cap="none" err="1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Không</a:t>
            </a: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err="1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có</a:t>
            </a: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err="1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dữ</a:t>
            </a: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err="1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liệu</a:t>
            </a: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err="1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trường</a:t>
            </a: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err="1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học</a:t>
            </a: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200" b="0" i="0" u="none" strike="noStrike" cap="none" err="1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dễ</a:t>
            </a: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err="1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bị</a:t>
            </a: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err="1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ảo</a:t>
            </a: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err="1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giác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57200" y="2980944"/>
            <a:ext cx="4224528" cy="65836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594360" y="3090672"/>
            <a:ext cx="39136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🔲  Dashboard xem điểm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4864608" y="2980944"/>
            <a:ext cx="3931920" cy="658368"/>
          </a:xfrm>
          <a:prstGeom prst="rect">
            <a:avLst/>
          </a:prstGeom>
          <a:solidFill>
            <a:srgbClr val="1A080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4864608" y="2980944"/>
            <a:ext cx="36576" cy="658368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956048" y="3090672"/>
            <a:ext cx="376732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✗  Chỉ hiển thị, không dự đoán tương lai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57200" y="3730752"/>
            <a:ext cx="4224528" cy="65836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594360" y="3840480"/>
            <a:ext cx="3913632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🔲  Deep Learning hộp đen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864608" y="3730752"/>
            <a:ext cx="3931920" cy="658368"/>
          </a:xfrm>
          <a:prstGeom prst="rect">
            <a:avLst/>
          </a:prstGeom>
          <a:solidFill>
            <a:srgbClr val="1A080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864608" y="3730752"/>
            <a:ext cx="36576" cy="658368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956048" y="3840480"/>
            <a:ext cx="376732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✗  Không ai tin tưởng — không giải thích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57200" y="4590288"/>
            <a:ext cx="8229600" cy="475488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48640" y="464515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lang="en-US" sz="1400" b="1" i="1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"Giáo dục không cần AI thần thánh. Giáo dục cần AI giải thích được."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E7EBE8-67BC-F247-37FF-4A084C5CE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GIẢI PHÁP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EduGuard AI — Giải Pháp Của Chúng Tôi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1005840"/>
            <a:ext cx="8522100" cy="4572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57200" y="1115568"/>
            <a:ext cx="1993392" cy="2852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457200" y="1115568"/>
            <a:ext cx="1993392" cy="54864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457200" y="1234440"/>
            <a:ext cx="19933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lang="en-US" sz="4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📁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30352" y="1993392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Dữ Liệu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30352" y="2377440"/>
            <a:ext cx="184708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Điểm số, chuyên cần,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quiz, lms, c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ms,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bài tập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487168" y="2029968"/>
            <a:ext cx="12801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2633472" y="1115568"/>
            <a:ext cx="1993392" cy="2852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2633472" y="1115568"/>
            <a:ext cx="1993392" cy="54864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2633472" y="1234440"/>
            <a:ext cx="19933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lang="en-US" sz="4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706624" y="1993392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AI Engine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2706624" y="2377440"/>
            <a:ext cx="184708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NLP + DSS +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XAI Engine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4663440" y="2029968"/>
            <a:ext cx="12801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809744" y="1115568"/>
            <a:ext cx="1993392" cy="2852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809744" y="1115568"/>
            <a:ext cx="1993392" cy="54864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4809744" y="1234440"/>
            <a:ext cx="19933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lang="en-US" sz="4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882896" y="1993392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Dự Báo Rủi Ro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882896" y="2377440"/>
            <a:ext cx="184708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Nguy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cơ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cao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(Red)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Cần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theo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dõi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(Yellow)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Ổn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định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(Green)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6839712" y="2029968"/>
            <a:ext cx="12801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986016" y="1115568"/>
            <a:ext cx="1993392" cy="2852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986016" y="1115568"/>
            <a:ext cx="1993392" cy="54864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986016" y="1234440"/>
            <a:ext cx="1993392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lang="en-US" sz="4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👨‍🏫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7059168" y="1993392"/>
            <a:ext cx="184708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Giảng Viên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7059168" y="2377440"/>
            <a:ext cx="1847088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Can thiệp đúng người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đúng thời điểm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57200" y="4096500"/>
            <a:ext cx="8522100" cy="9693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457200" y="4096494"/>
            <a:ext cx="8522100" cy="5490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030653" y="4206250"/>
            <a:ext cx="1375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EduGuard AI thực hiện: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93775" y="4560775"/>
            <a:ext cx="18471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📊  Phân tích học lực toàn diện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2833225" y="4560775"/>
            <a:ext cx="15939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🔮  Dự đoán rủi ro từ tuần 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828750" y="4533444"/>
            <a:ext cx="19554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💡  Giải thích nguyên nhân rõ ràng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252950" y="4533450"/>
            <a:ext cx="15939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⚡  Hỗ trợ can thiệp kịp thời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23DB19-17B6-F8F3-9D40-84216C003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TÍNH NĂNG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Tính Năng Cốt Lõi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1005839"/>
            <a:ext cx="8558784" cy="45719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457200" y="1115568"/>
            <a:ext cx="2029968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57200" y="1115568"/>
            <a:ext cx="2029968" cy="54864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57200" y="1234440"/>
            <a:ext cx="20299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🔮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30352" y="2029968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Dự Báo Rủi Ro AI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868680" y="2468880"/>
            <a:ext cx="1207008" cy="27432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30352" y="2578608"/>
            <a:ext cx="1883664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Phát hiện nguy cơ rớt môn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từ tuần học thứ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Trước cả kỳ thi giữa kỳ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633472" y="1115568"/>
            <a:ext cx="2029968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2633472" y="1115568"/>
            <a:ext cx="2029968" cy="54864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2633472" y="1234440"/>
            <a:ext cx="20299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706624" y="2029968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AI Giải Thích Được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3044952" y="2468880"/>
            <a:ext cx="1207008" cy="27432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2706624" y="2578608"/>
            <a:ext cx="1883664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Chỉ rõ từng nguyên nhân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rủi ro theo phần trăm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Không phải hộp đen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809744" y="1115568"/>
            <a:ext cx="2029968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4809744" y="1115568"/>
            <a:ext cx="2029968" cy="54864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809744" y="1234440"/>
            <a:ext cx="20299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882896" y="2029968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Phân Tích Môn Tiên Quyết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221224" y="2468880"/>
            <a:ext cx="1207008" cy="27432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882896" y="2578608"/>
            <a:ext cx="1883664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Phát hiện chuỗi đứt gãy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môn học nguy hiểm nhất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'Nút thắt cổ chai'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986016" y="1115568"/>
            <a:ext cx="2029968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6986016" y="1115568"/>
            <a:ext cx="2029968" cy="54864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6986016" y="1234440"/>
            <a:ext cx="20299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059168" y="2029968"/>
            <a:ext cx="188366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Chatbot Tiếng Việt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397496" y="2468880"/>
            <a:ext cx="1207008" cy="27432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059168" y="2578608"/>
            <a:ext cx="1883664" cy="210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Hỏi đáp tự nhiên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Nhớ ngữ cảnh hội thoại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Phân quyền thông minh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B3E0B8-BB6E-61CA-D19E-B9EB0A4B7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5C9A6EB-40CE-2464-42C8-CFAD89029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032" y="2735262"/>
            <a:ext cx="3932940" cy="19234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BFCEB8-6ECF-2F23-D744-AA9579DEC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714426"/>
            <a:ext cx="3966934" cy="19495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9CF228-262C-0BCB-8ED1-9FCF49FB1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1032" y="420622"/>
            <a:ext cx="3960069" cy="194307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0D7606-2412-919B-B1DF-8E09B382CE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430975"/>
            <a:ext cx="3960570" cy="1953768"/>
          </a:xfrm>
          <a:prstGeom prst="rect">
            <a:avLst/>
          </a:prstGeom>
        </p:spPr>
      </p:pic>
      <p:sp>
        <p:nvSpPr>
          <p:cNvPr id="190" name="Google Shape;190;p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274320" y="9144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Giao </a:t>
            </a:r>
            <a:r>
              <a:rPr lang="en-US" sz="160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Diện</a:t>
            </a:r>
            <a:r>
              <a:rPr lang="en-US" sz="16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Sáng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52400" y="2347075"/>
            <a:ext cx="3966934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50"/>
              <a:buFont typeface="Calibri"/>
              <a:buNone/>
            </a:pP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Tổng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quan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94;p8">
            <a:extLst>
              <a:ext uri="{FF2B5EF4-FFF2-40B4-BE49-F238E27FC236}">
                <a16:creationId xmlns:a16="http://schemas.microsoft.com/office/drawing/2014/main" id="{D5A3E0BF-DD82-6FBE-A36A-71905DCA26A1}"/>
              </a:ext>
            </a:extLst>
          </p:cNvPr>
          <p:cNvSpPr/>
          <p:nvPr/>
        </p:nvSpPr>
        <p:spPr>
          <a:xfrm>
            <a:off x="5024666" y="2331612"/>
            <a:ext cx="3966934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50"/>
              <a:buFont typeface="Calibri"/>
              <a:buNone/>
            </a:pP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Tra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cứu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học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vụ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94;p8">
            <a:extLst>
              <a:ext uri="{FF2B5EF4-FFF2-40B4-BE49-F238E27FC236}">
                <a16:creationId xmlns:a16="http://schemas.microsoft.com/office/drawing/2014/main" id="{5D5B7FAE-14C8-7E69-9D1E-0FB786254D9C}"/>
              </a:ext>
            </a:extLst>
          </p:cNvPr>
          <p:cNvSpPr/>
          <p:nvPr/>
        </p:nvSpPr>
        <p:spPr>
          <a:xfrm>
            <a:off x="5024666" y="4688686"/>
            <a:ext cx="3966934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50"/>
              <a:buFont typeface="Calibri"/>
              <a:buNone/>
            </a:pP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Dự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đoán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cảnh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báo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94;p8">
            <a:extLst>
              <a:ext uri="{FF2B5EF4-FFF2-40B4-BE49-F238E27FC236}">
                <a16:creationId xmlns:a16="http://schemas.microsoft.com/office/drawing/2014/main" id="{A0A6AA11-F14F-2DA7-026E-AAA65864710F}"/>
              </a:ext>
            </a:extLst>
          </p:cNvPr>
          <p:cNvSpPr/>
          <p:nvPr/>
        </p:nvSpPr>
        <p:spPr>
          <a:xfrm>
            <a:off x="152400" y="4658760"/>
            <a:ext cx="3966934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50"/>
              <a:buFont typeface="Calibri"/>
              <a:buNone/>
            </a:pP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Quản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lý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can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thiệp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274320" y="91440"/>
            <a:ext cx="85953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Giao </a:t>
            </a:r>
            <a:r>
              <a:rPr lang="en-US" sz="160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Diện</a:t>
            </a:r>
            <a:r>
              <a:rPr lang="en-US" sz="16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Tối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52400" y="2347075"/>
            <a:ext cx="3966934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50"/>
              <a:buFont typeface="Calibri"/>
              <a:buNone/>
            </a:pP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Tổng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quan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24666" y="420623"/>
            <a:ext cx="3966934" cy="1953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20624"/>
            <a:ext cx="3966934" cy="195376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94;p8">
            <a:extLst>
              <a:ext uri="{FF2B5EF4-FFF2-40B4-BE49-F238E27FC236}">
                <a16:creationId xmlns:a16="http://schemas.microsoft.com/office/drawing/2014/main" id="{D5A3E0BF-DD82-6FBE-A36A-71905DCA26A1}"/>
              </a:ext>
            </a:extLst>
          </p:cNvPr>
          <p:cNvSpPr/>
          <p:nvPr/>
        </p:nvSpPr>
        <p:spPr>
          <a:xfrm>
            <a:off x="5024666" y="2331612"/>
            <a:ext cx="3966934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50"/>
              <a:buFont typeface="Calibri"/>
              <a:buNone/>
            </a:pP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Tra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cứu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học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vụ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94;p8">
            <a:extLst>
              <a:ext uri="{FF2B5EF4-FFF2-40B4-BE49-F238E27FC236}">
                <a16:creationId xmlns:a16="http://schemas.microsoft.com/office/drawing/2014/main" id="{5D5B7FAE-14C8-7E69-9D1E-0FB786254D9C}"/>
              </a:ext>
            </a:extLst>
          </p:cNvPr>
          <p:cNvSpPr/>
          <p:nvPr/>
        </p:nvSpPr>
        <p:spPr>
          <a:xfrm>
            <a:off x="5024666" y="4688686"/>
            <a:ext cx="3966934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50"/>
              <a:buFont typeface="Calibri"/>
              <a:buNone/>
            </a:pP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Dự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đoán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cảnh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báo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1C5A66-2844-2216-94BC-C893266EFF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2719649"/>
            <a:ext cx="3966934" cy="1959032"/>
          </a:xfrm>
          <a:prstGeom prst="rect">
            <a:avLst/>
          </a:prstGeom>
        </p:spPr>
      </p:pic>
      <p:sp>
        <p:nvSpPr>
          <p:cNvPr id="10" name="Google Shape;194;p8">
            <a:extLst>
              <a:ext uri="{FF2B5EF4-FFF2-40B4-BE49-F238E27FC236}">
                <a16:creationId xmlns:a16="http://schemas.microsoft.com/office/drawing/2014/main" id="{A0A6AA11-F14F-2DA7-026E-AAA65864710F}"/>
              </a:ext>
            </a:extLst>
          </p:cNvPr>
          <p:cNvSpPr/>
          <p:nvPr/>
        </p:nvSpPr>
        <p:spPr>
          <a:xfrm>
            <a:off x="152400" y="4658760"/>
            <a:ext cx="3966934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50"/>
              <a:buFont typeface="Calibri"/>
              <a:buNone/>
            </a:pP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Quản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lý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và</a:t>
            </a:r>
            <a:r>
              <a:rPr lang="en-US" sz="9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 can </a:t>
            </a:r>
            <a:r>
              <a:rPr lang="en-US" sz="950" b="1" i="0" u="none" strike="noStrike" cap="none" err="1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thiệp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3DE1386-DBC5-F5D8-E449-9841E00AB2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4666" y="2735262"/>
            <a:ext cx="3966934" cy="194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4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KHÁC BIỆT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Điều Làm EduGuard Khác Biệt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57200" y="1005839"/>
            <a:ext cx="8412480" cy="45719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57200" y="1115568"/>
            <a:ext cx="3977640" cy="3520440"/>
          </a:xfrm>
          <a:prstGeom prst="rect">
            <a:avLst/>
          </a:prstGeom>
          <a:solidFill>
            <a:srgbClr val="1A0808"/>
          </a:solidFill>
          <a:ln w="9525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457200" y="1115568"/>
            <a:ext cx="3977640" cy="310896"/>
          </a:xfrm>
          <a:prstGeom prst="rect">
            <a:avLst/>
          </a:prstGeom>
          <a:solidFill>
            <a:srgbClr val="7F1D1D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548640" y="1115568"/>
            <a:ext cx="3794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Không Phải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94360" y="1536192"/>
            <a:ext cx="3712464" cy="53035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685800" y="1591056"/>
            <a:ext cx="35295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❌  Không chỉ là chatbot thông thường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94360" y="2157984"/>
            <a:ext cx="3712464" cy="53035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685800" y="2212848"/>
            <a:ext cx="35295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❌  Không phụ thuộc ChatGPT hay API ngoài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594360" y="2779776"/>
            <a:ext cx="3712464" cy="53035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685800" y="2834640"/>
            <a:ext cx="35295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❌  Không phải AI hộp đen bí ẩn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94360" y="3401568"/>
            <a:ext cx="3712464" cy="53035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685800" y="3456432"/>
            <a:ext cx="35295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❌  Không thay thế giảng viên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535424" y="2606040"/>
            <a:ext cx="5303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⟹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120640" y="1115568"/>
            <a:ext cx="3749040" cy="3520440"/>
          </a:xfrm>
          <a:prstGeom prst="rect">
            <a:avLst/>
          </a:prstGeom>
          <a:solidFill>
            <a:srgbClr val="0A1A1A"/>
          </a:solidFill>
          <a:ln w="95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5120640" y="1115568"/>
            <a:ext cx="3749040" cy="310896"/>
          </a:xfrm>
          <a:prstGeom prst="rect">
            <a:avLst/>
          </a:prstGeom>
          <a:solidFill>
            <a:srgbClr val="065F46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5212080" y="1115568"/>
            <a:ext cx="3566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EduGuard Là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5257800" y="1536192"/>
            <a:ext cx="3493008" cy="53035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5349240" y="1591056"/>
            <a:ext cx="33101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✅  Nền tảng AI Lai (Hybrid AI)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257800" y="2157984"/>
            <a:ext cx="3493008" cy="53035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5349240" y="2212848"/>
            <a:ext cx="33101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✅  Hệ thống Ra Quyết Định (DSS)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257800" y="2779776"/>
            <a:ext cx="3493008" cy="53035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349240" y="2834640"/>
            <a:ext cx="33101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✅  AI Giải Thích Được (XAI)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257800" y="3401568"/>
            <a:ext cx="3493008" cy="53035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5349240" y="3456432"/>
            <a:ext cx="33101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✅  Con Người Vẫn Quyết Định Cuối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57200" y="4626864"/>
            <a:ext cx="8229600" cy="402336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548640" y="4672584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Hybrid AI + DSS + XAI + Human-in-the-loop = EduGuard DSS Platform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8B036F-3799-81DB-16AB-EA46FE0C6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KIẾN TRÚC AI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Kiến</a:t>
            </a: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Trúc Hybrid AI 6 </a:t>
            </a:r>
            <a:r>
              <a:rPr lang="en-US" sz="3000" b="1" i="0" u="none" strike="noStrike" cap="none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Tầng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365760" y="1115568"/>
            <a:ext cx="4663440" cy="566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365760" y="1115568"/>
            <a:ext cx="457200" cy="566928"/>
          </a:xfrm>
          <a:prstGeom prst="rect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365760" y="111556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877824" y="1152144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426464" y="117043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Người Dùng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426464" y="1389888"/>
            <a:ext cx="35478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Giao diện React + Chatbot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417320" y="1682496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65760" y="1773936"/>
            <a:ext cx="4663440" cy="566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365760" y="1773936"/>
            <a:ext cx="457200" cy="566928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365760" y="177393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877824" y="1810512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🔤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426464" y="1828800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Tầng NLP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426464" y="2048256"/>
            <a:ext cx="35478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Phân tích ý định &amp; thực thể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417320" y="234086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365760" y="2432304"/>
            <a:ext cx="4663440" cy="566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365760" y="2432304"/>
            <a:ext cx="457200" cy="566928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365760" y="2432304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877824" y="2468880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1426464" y="2487168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Bộ Nhớ Phiên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1426464" y="2706624"/>
            <a:ext cx="35478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Nhớ ngữ cảnh hội thoại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417320" y="2999232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365760" y="3090672"/>
            <a:ext cx="4663440" cy="566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365760" y="3090672"/>
            <a:ext cx="457200" cy="566928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365760" y="30906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877824" y="3127248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1426464" y="3145536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Động Cơ DSS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426464" y="3364992"/>
            <a:ext cx="35478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Tính điểm rủi ro + XAI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1417320" y="365760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365760" y="3749040"/>
            <a:ext cx="4663440" cy="566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365760" y="3749040"/>
            <a:ext cx="457200" cy="566928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365760" y="374904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877824" y="3785616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426464" y="3803904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ML + Giải Thích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1426464" y="4023360"/>
            <a:ext cx="35478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Trọng số + Nguyên nhân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1417320" y="431596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365760" y="4407408"/>
            <a:ext cx="4663440" cy="566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365760" y="4407408"/>
            <a:ext cx="457200" cy="566928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365760" y="440740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877824" y="4443984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1426464" y="446227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Bảng Điều Khiển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1426464" y="4681728"/>
            <a:ext cx="35478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Hiển thị kết quả trực quan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12080" y="1115568"/>
            <a:ext cx="3657600" cy="4005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709D88C-B527-D517-EFD4-FD3C9856E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TẦNG NLP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Tầng NLP — Hiểu Tiếng Việt Tự Nhiên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457200" y="1115568"/>
            <a:ext cx="3886200" cy="384048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57200" y="1115568"/>
            <a:ext cx="3886200" cy="310896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1"/>
          <p:cNvSpPr/>
          <p:nvPr/>
        </p:nvSpPr>
        <p:spPr>
          <a:xfrm>
            <a:off x="548640" y="1115568"/>
            <a:ext cx="3703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Công Nghệ Sử Dụng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94360" y="1536192"/>
            <a:ext cx="3621024" cy="56692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"/>
          <p:cNvSpPr/>
          <p:nvPr/>
        </p:nvSpPr>
        <p:spPr>
          <a:xfrm>
            <a:off x="640080" y="1572768"/>
            <a:ext cx="4389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🔤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115568" y="1591056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node-nlp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1115568" y="1810512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Xử lý tiếng Việt cục bộ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594360" y="2194560"/>
            <a:ext cx="3621024" cy="56692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640080" y="2231136"/>
            <a:ext cx="4389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1115568" y="2249424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Phân loại ý định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1115568" y="2468880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Intent Classification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594360" y="2852928"/>
            <a:ext cx="3621024" cy="56692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640080" y="2889504"/>
            <a:ext cx="4389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🏷️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1115568" y="2907792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Trích xuất thực thể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1115568" y="3127248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Entity Extraction (MSSV, Môn)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594360" y="3511296"/>
            <a:ext cx="3621024" cy="56692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40080" y="3547872"/>
            <a:ext cx="43891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1115568" y="3566160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Khớp mờ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1115568" y="3785616"/>
            <a:ext cx="2999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Fuzzy Matching tên môn học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498848" y="1115568"/>
            <a:ext cx="4315968" cy="384048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4498848" y="1115568"/>
            <a:ext cx="4315968" cy="310896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4590288" y="1115568"/>
            <a:ext cx="413308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— Khớp Nhiều Cách Diễn Đạt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645152" y="1536192"/>
            <a:ext cx="404164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Các câu hỏi khác nhau → cùng ý định: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645152" y="1847088"/>
            <a:ext cx="4041648" cy="420624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4736592" y="1901952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💬  "Môn dễ rớt nhất là gì?"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645152" y="2350008"/>
            <a:ext cx="4041648" cy="420624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4736592" y="2404872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💬  "Môn nào sinh viên hay trượt?"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645152" y="2852928"/>
            <a:ext cx="4041648" cy="420624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4736592" y="2907792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💬  "Môn nào bottleneck?"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645152" y="3355848"/>
            <a:ext cx="4041648" cy="420624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4736592" y="3410712"/>
            <a:ext cx="299923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💬  "Môn khó nhất lớp?"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6537960" y="3931920"/>
            <a:ext cx="36576" cy="292608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6309360" y="3968496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645152" y="4279392"/>
            <a:ext cx="4041648" cy="475488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1"/>
          <p:cNvSpPr/>
          <p:nvPr/>
        </p:nvSpPr>
        <p:spPr>
          <a:xfrm>
            <a:off x="4736592" y="4334256"/>
            <a:ext cx="385876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✅  Tất cả → query.bottleneck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D9AD61-416B-78F4-F6F9-AEE972F1E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BỘ NHỚ AI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Bộ Nhớ Phiên — AI Nhớ Ngữ Cảnh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457200" y="1115568"/>
            <a:ext cx="4709160" cy="382219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457200" y="1115568"/>
            <a:ext cx="4709160" cy="310896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2"/>
          <p:cNvSpPr/>
          <p:nvPr/>
        </p:nvSpPr>
        <p:spPr>
          <a:xfrm>
            <a:off x="548640" y="1115568"/>
            <a:ext cx="45262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💬  Demo Hội Thoại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1828800" y="1536192"/>
            <a:ext cx="3090672" cy="310896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2"/>
          <p:cNvSpPr/>
          <p:nvPr/>
        </p:nvSpPr>
        <p:spPr>
          <a:xfrm>
            <a:off x="1901952" y="157276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👨‍🏫 Phân tích sinh viên PS27463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621792" y="1901952"/>
            <a:ext cx="4114800" cy="310896"/>
          </a:xfrm>
          <a:prstGeom prst="rect">
            <a:avLst/>
          </a:prstGeom>
          <a:solidFill>
            <a:srgbClr val="14532D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694944" y="1938528"/>
            <a:ext cx="39684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📊 PS27463 — CRITICAL (Score: 81)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Rớt WEB101, chuyên cần 52% 🤖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1828800" y="2267712"/>
            <a:ext cx="3090672" cy="310896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2"/>
          <p:cNvSpPr/>
          <p:nvPr/>
        </p:nvSpPr>
        <p:spPr>
          <a:xfrm>
            <a:off x="1901952" y="230428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👨‍🏫 Chuyên cần của em đó thế nào?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621792" y="2633472"/>
            <a:ext cx="4114800" cy="310896"/>
          </a:xfrm>
          <a:prstGeom prst="rect">
            <a:avLst/>
          </a:prstGeom>
          <a:solidFill>
            <a:srgbClr val="14532D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694944" y="2670048"/>
            <a:ext cx="39684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✅ AI hiểu: đang hỏi về PS27463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Chuyên cần: 52% — Dưới 70% 🤖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1828800" y="2999232"/>
            <a:ext cx="3090672" cy="310896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2"/>
          <p:cNvSpPr/>
          <p:nvPr/>
        </p:nvSpPr>
        <p:spPr>
          <a:xfrm>
            <a:off x="1901952" y="303580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👨‍🏫 Lịch sử điểm ra sao?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621792" y="3364992"/>
            <a:ext cx="4114800" cy="310896"/>
          </a:xfrm>
          <a:prstGeom prst="rect">
            <a:avLst/>
          </a:prstGeom>
          <a:solidFill>
            <a:srgbClr val="14532D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694944" y="3401568"/>
            <a:ext cx="396849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📉 PS27463: 7.2 → 5.8 → 4.1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→ Giảm liên tục 3 kỳ 🤖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5321808" y="1115568"/>
            <a:ext cx="3474720" cy="382219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2"/>
          <p:cNvSpPr/>
          <p:nvPr/>
        </p:nvSpPr>
        <p:spPr>
          <a:xfrm>
            <a:off x="5321808" y="1115568"/>
            <a:ext cx="3474720" cy="54864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5413248" y="123444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Cách Hoạt Động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5468112" y="1572768"/>
            <a:ext cx="3182112" cy="47548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2"/>
          <p:cNvSpPr/>
          <p:nvPr/>
        </p:nvSpPr>
        <p:spPr>
          <a:xfrm>
            <a:off x="5513832" y="16093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📌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5943600" y="1627632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Lưu MSSV hiện tại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5943600" y="1810512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Khi nhắc đến SV nào, hệ thống nhớ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5468112" y="2139696"/>
            <a:ext cx="3182112" cy="47548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2"/>
          <p:cNvSpPr/>
          <p:nvPr/>
        </p:nvSpPr>
        <p:spPr>
          <a:xfrm>
            <a:off x="5513832" y="217627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5943600" y="2194560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Gắn với mọi câu hỏi tiếp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5943600" y="2377440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Không cần nhập lại MSSV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5468112" y="2706624"/>
            <a:ext cx="3182112" cy="47548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5513832" y="2743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5943600" y="2761488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Hội thoại tự nhiên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5943600" y="2944368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Như nói chuyện với người thật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5468112" y="3273552"/>
            <a:ext cx="3182112" cy="47548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5513832" y="3310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5943600" y="3328416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Xóa khi chuyển chủ đề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2"/>
          <p:cNvSpPr/>
          <p:nvPr/>
        </p:nvSpPr>
        <p:spPr>
          <a:xfrm>
            <a:off x="5943600" y="3511296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Tự động reset khi hỏi SV mới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457200" y="4626864"/>
            <a:ext cx="8229600" cy="402336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2"/>
          <p:cNvSpPr/>
          <p:nvPr/>
        </p:nvSpPr>
        <p:spPr>
          <a:xfrm>
            <a:off x="548640" y="4672584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AI nhớ ngữ cảnh → Hội thoại tự nhiên → Không cần nhập lại thông tin mỗi câu hỏi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B8BDCF-81A1-0D06-8138-B6A81D40E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3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3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ĐỘNG CƠ DSS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3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Động Cơ DSS — Công Thức Tính Rủi Ro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3"/>
          <p:cNvSpPr/>
          <p:nvPr/>
        </p:nvSpPr>
        <p:spPr>
          <a:xfrm>
            <a:off x="457200" y="1115568"/>
            <a:ext cx="8229600" cy="804672"/>
          </a:xfrm>
          <a:prstGeom prst="rect">
            <a:avLst/>
          </a:prstGeom>
          <a:solidFill>
            <a:srgbClr val="0A0A1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3"/>
          <p:cNvSpPr/>
          <p:nvPr/>
        </p:nvSpPr>
        <p:spPr>
          <a:xfrm>
            <a:off x="457200" y="1115568"/>
            <a:ext cx="8229600" cy="54864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548640" y="1234440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Risk Score = Σ (Yếu Tố × Trọng Số)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3"/>
          <p:cNvSpPr/>
          <p:nvPr/>
        </p:nvSpPr>
        <p:spPr>
          <a:xfrm>
            <a:off x="457200" y="2029968"/>
            <a:ext cx="8229600" cy="566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3"/>
          <p:cNvSpPr/>
          <p:nvPr/>
        </p:nvSpPr>
        <p:spPr>
          <a:xfrm>
            <a:off x="594360" y="2103120"/>
            <a:ext cx="19659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Chuyên Cần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2633472" y="2103120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Dưới 70% → nguy hiểm cao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6309360" y="2194560"/>
            <a:ext cx="1664208" cy="237744"/>
          </a:xfrm>
          <a:prstGeom prst="rect">
            <a:avLst/>
          </a:prstGeom>
          <a:solidFill>
            <a:srgbClr val="232D42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6309360" y="2194560"/>
            <a:ext cx="1664208" cy="237744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8028432" y="2121408"/>
            <a:ext cx="566928" cy="384048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3"/>
          <p:cNvSpPr/>
          <p:nvPr/>
        </p:nvSpPr>
        <p:spPr>
          <a:xfrm>
            <a:off x="8028432" y="2121408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457200" y="2688336"/>
            <a:ext cx="8229600" cy="566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594360" y="2761488"/>
            <a:ext cx="19659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Môn Nền Tảng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2633472" y="2761488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Rớt môn tiên quyết → dây chuyền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6309360" y="2852928"/>
            <a:ext cx="1664208" cy="237744"/>
          </a:xfrm>
          <a:prstGeom prst="rect">
            <a:avLst/>
          </a:prstGeom>
          <a:solidFill>
            <a:srgbClr val="232D42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6309360" y="2852928"/>
            <a:ext cx="1456182" cy="237744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8028432" y="2779776"/>
            <a:ext cx="566928" cy="384048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8028432" y="2779776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35%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3"/>
          <p:cNvSpPr/>
          <p:nvPr/>
        </p:nvSpPr>
        <p:spPr>
          <a:xfrm>
            <a:off x="457200" y="3346704"/>
            <a:ext cx="8229600" cy="566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3"/>
          <p:cNvSpPr/>
          <p:nvPr/>
        </p:nvSpPr>
        <p:spPr>
          <a:xfrm>
            <a:off x="594360" y="3419856"/>
            <a:ext cx="19659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Bài Tập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2633472" y="3419856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Nộp muộn / thiếu → điểm thực hành kém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6309360" y="3511296"/>
            <a:ext cx="1664208" cy="237744"/>
          </a:xfrm>
          <a:prstGeom prst="rect">
            <a:avLst/>
          </a:prstGeom>
          <a:solidFill>
            <a:srgbClr val="232D42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6309360" y="3511296"/>
            <a:ext cx="624078" cy="237744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8028432" y="3438144"/>
            <a:ext cx="566928" cy="384048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3"/>
          <p:cNvSpPr/>
          <p:nvPr/>
        </p:nvSpPr>
        <p:spPr>
          <a:xfrm>
            <a:off x="8028432" y="3438144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457200" y="4005072"/>
            <a:ext cx="8229600" cy="5669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594360" y="4078224"/>
            <a:ext cx="19659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Hoạt Động LMS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2633472" y="4078224"/>
            <a:ext cx="3611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Ít tương tác → mất gắn kết học tập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6309360" y="4169664"/>
            <a:ext cx="1664208" cy="237744"/>
          </a:xfrm>
          <a:prstGeom prst="rect">
            <a:avLst/>
          </a:prstGeom>
          <a:solidFill>
            <a:srgbClr val="232D42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6309360" y="4169664"/>
            <a:ext cx="416052" cy="237744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8028432" y="4096512"/>
            <a:ext cx="566928" cy="384048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8028432" y="4096512"/>
            <a:ext cx="56692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10%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457200" y="4626864"/>
            <a:ext cx="8229600" cy="402336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548640" y="4672584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Rule-based Transparent Algorithm — Trọng số công khai — Ai cũng kiểm tra được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C1FB62-6700-5611-015E-3E4CC4E0A3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4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XAI — SLIDE VÀO TIỀN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Giải Thích Được — Không Phải Hộp Đen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457200" y="1005839"/>
            <a:ext cx="8348472" cy="45719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457200" y="1115568"/>
            <a:ext cx="4736592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457200" y="1115568"/>
            <a:ext cx="4736592" cy="347472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4"/>
          <p:cNvSpPr/>
          <p:nvPr/>
        </p:nvSpPr>
        <p:spPr>
          <a:xfrm>
            <a:off x="566928" y="1115568"/>
            <a:ext cx="451713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🔴  </a:t>
            </a:r>
            <a:r>
              <a:rPr lang="en-US" sz="1300" b="1" i="0" u="none" strike="noStrike" cap="none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Điểm</a:t>
            </a: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Rủi</a:t>
            </a: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Ro: 81  |  NGUY CƠ CAO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594360" y="1554480"/>
            <a:ext cx="4480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150"/>
              <a:buFont typeface="Calibri"/>
              <a:buNone/>
            </a:pPr>
            <a:r>
              <a:rPr lang="en-US" sz="1150" b="1" i="0" u="none" strike="noStrike" cap="non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Nguyên nhân: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594360" y="1874520"/>
            <a:ext cx="4462272" cy="56692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4"/>
          <p:cNvSpPr/>
          <p:nvPr/>
        </p:nvSpPr>
        <p:spPr>
          <a:xfrm>
            <a:off x="685800" y="1947672"/>
            <a:ext cx="290779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Chuyên cần thấp (40%)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3639312" y="1947672"/>
            <a:ext cx="1097280" cy="274320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3639312" y="19476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52%  ↓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4681728" y="2002536"/>
            <a:ext cx="804672" cy="182880"/>
          </a:xfrm>
          <a:prstGeom prst="rect">
            <a:avLst/>
          </a:prstGeom>
          <a:solidFill>
            <a:srgbClr val="1A2236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4681728" y="2002536"/>
            <a:ext cx="804672" cy="182880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4"/>
          <p:cNvSpPr/>
          <p:nvPr/>
        </p:nvSpPr>
        <p:spPr>
          <a:xfrm>
            <a:off x="4608576" y="1947672"/>
            <a:ext cx="8595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40%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594360" y="2532888"/>
            <a:ext cx="4462272" cy="56692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685800" y="2606040"/>
            <a:ext cx="290779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Rớt môn JS nền tảng (35%)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3639312" y="2606040"/>
            <a:ext cx="1097280" cy="27432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4"/>
          <p:cNvSpPr/>
          <p:nvPr/>
        </p:nvSpPr>
        <p:spPr>
          <a:xfrm>
            <a:off x="3639312" y="26060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3.8đ  ✗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4681728" y="2660904"/>
            <a:ext cx="804672" cy="182880"/>
          </a:xfrm>
          <a:prstGeom prst="rect">
            <a:avLst/>
          </a:prstGeom>
          <a:solidFill>
            <a:srgbClr val="1A2236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4"/>
          <p:cNvSpPr/>
          <p:nvPr/>
        </p:nvSpPr>
        <p:spPr>
          <a:xfrm>
            <a:off x="4681728" y="2660904"/>
            <a:ext cx="704088" cy="18288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4"/>
          <p:cNvSpPr/>
          <p:nvPr/>
        </p:nvSpPr>
        <p:spPr>
          <a:xfrm>
            <a:off x="4608576" y="2606040"/>
            <a:ext cx="8595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594360" y="3191256"/>
            <a:ext cx="4462272" cy="56692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685800" y="3264408"/>
            <a:ext cx="290779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Thiếu bài tập (25%)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3639312" y="3264408"/>
            <a:ext cx="1097280" cy="27432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4"/>
          <p:cNvSpPr/>
          <p:nvPr/>
        </p:nvSpPr>
        <p:spPr>
          <a:xfrm>
            <a:off x="3639312" y="326440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3/8 nộp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4"/>
          <p:cNvSpPr/>
          <p:nvPr/>
        </p:nvSpPr>
        <p:spPr>
          <a:xfrm>
            <a:off x="4681728" y="3319272"/>
            <a:ext cx="804672" cy="182880"/>
          </a:xfrm>
          <a:prstGeom prst="rect">
            <a:avLst/>
          </a:prstGeom>
          <a:solidFill>
            <a:srgbClr val="1A2236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4681728" y="3319272"/>
            <a:ext cx="502920" cy="18288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4"/>
          <p:cNvSpPr/>
          <p:nvPr/>
        </p:nvSpPr>
        <p:spPr>
          <a:xfrm>
            <a:off x="4608576" y="3264408"/>
            <a:ext cx="8595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25%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594360" y="3858768"/>
            <a:ext cx="4462272" cy="566928"/>
          </a:xfrm>
          <a:prstGeom prst="rect">
            <a:avLst/>
          </a:prstGeom>
          <a:solidFill>
            <a:srgbClr val="3B0A0A"/>
          </a:solidFill>
          <a:ln w="9525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685800" y="3913632"/>
            <a:ext cx="42793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💡  Đề xuất: Gặp sinh viên tuần này, ưu tiên ôn JS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/>
          <p:nvPr/>
        </p:nvSpPr>
        <p:spPr>
          <a:xfrm>
            <a:off x="5349240" y="1115568"/>
            <a:ext cx="3456432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4"/>
          <p:cNvSpPr/>
          <p:nvPr/>
        </p:nvSpPr>
        <p:spPr>
          <a:xfrm>
            <a:off x="5349240" y="1115568"/>
            <a:ext cx="3456432" cy="54864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5440680" y="1234440"/>
            <a:ext cx="3273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Tại Sao XAI Quan Trọng?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5486400" y="1572768"/>
            <a:ext cx="3182112" cy="43891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5532120" y="1609344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5943600" y="1627632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Xây dựng niềm tin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5943600" y="1810512"/>
            <a:ext cx="2633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GV hiểu → hành động đúng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5486400" y="2103120"/>
            <a:ext cx="3182112" cy="43891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5532120" y="2139696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5943600" y="2157984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Đạo đức AI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4"/>
          <p:cNvSpPr/>
          <p:nvPr/>
        </p:nvSpPr>
        <p:spPr>
          <a:xfrm>
            <a:off x="5943600" y="2340864"/>
            <a:ext cx="2633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Không dùng AI đoán mò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trong giáo dục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5486400" y="2633472"/>
            <a:ext cx="3182112" cy="43891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4"/>
          <p:cNvSpPr/>
          <p:nvPr/>
        </p:nvSpPr>
        <p:spPr>
          <a:xfrm>
            <a:off x="5532120" y="2670048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5943600" y="2688336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 người quyết định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4"/>
          <p:cNvSpPr/>
          <p:nvPr/>
        </p:nvSpPr>
        <p:spPr>
          <a:xfrm>
            <a:off x="5943600" y="2871216"/>
            <a:ext cx="2633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hỗ trợ — GV ra quyết định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5486400" y="3163824"/>
            <a:ext cx="3182112" cy="43891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4"/>
          <p:cNvSpPr/>
          <p:nvPr/>
        </p:nvSpPr>
        <p:spPr>
          <a:xfrm>
            <a:off x="5532120" y="3200400"/>
            <a:ext cx="365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5943600" y="3218688"/>
            <a:ext cx="2633472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Minh bạch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4"/>
          <p:cNvSpPr/>
          <p:nvPr/>
        </p:nvSpPr>
        <p:spPr>
          <a:xfrm>
            <a:off x="5943600" y="3401568"/>
            <a:ext cx="2633472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Mọi quyết định đều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có hồ sơ rõ ràng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457200" y="4626864"/>
            <a:ext cx="8229600" cy="402336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548640" y="4672584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"AI hỗ trợ giảng viên ra quyết định — không thay thế giảng viên."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ACD5B7-D47E-EF91-6811-53C52D285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5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ĐỘ TIN CẬY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Hiệu Chỉnh Độ Tin Cậy — AI Không Quá Tự Tin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457200" y="1005839"/>
            <a:ext cx="8375904" cy="45719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457200" y="1115568"/>
            <a:ext cx="3090672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457200" y="1115568"/>
            <a:ext cx="3090672" cy="54864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457200" y="1261872"/>
            <a:ext cx="3090672" cy="117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800"/>
              <a:buFont typeface="Calibri"/>
              <a:buNone/>
            </a:pPr>
            <a:r>
              <a:rPr lang="en-US" sz="88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87%</a:t>
            </a:r>
            <a:endParaRPr sz="8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457200" y="2487168"/>
            <a:ext cx="309067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Xác Suất Rủi Ro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640080" y="2880360"/>
            <a:ext cx="2724912" cy="384048"/>
          </a:xfrm>
          <a:prstGeom prst="rect">
            <a:avLst/>
          </a:prstGeom>
          <a:solidFill>
            <a:srgbClr val="14532D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640080" y="2880360"/>
            <a:ext cx="27249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ĐỘ TIN CẬY: CAO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566928" y="3364992"/>
            <a:ext cx="287121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Được tính từ nhiều nguồn dữ liệu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kết hợp — không chỉ 1 yếu tố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3730752" y="1115568"/>
            <a:ext cx="5102352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3730752" y="1115568"/>
            <a:ext cx="5102352" cy="310896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3822192" y="1115568"/>
            <a:ext cx="491947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Tại Sao Cần Hiệu Chỉnh Độ Tin Cậy?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/>
          <p:nvPr/>
        </p:nvSpPr>
        <p:spPr>
          <a:xfrm>
            <a:off x="3858768" y="1536192"/>
            <a:ext cx="4846320" cy="80467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3913632" y="1572768"/>
            <a:ext cx="5029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4462272" y="1591056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Tránh AI tự tin quá mức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/>
          <p:nvPr/>
        </p:nvSpPr>
        <p:spPr>
          <a:xfrm>
            <a:off x="4462272" y="1865376"/>
            <a:ext cx="4160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không được phép nói '100% chắc chắn'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khi dữ liệu còn thiếu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3858768" y="2468880"/>
            <a:ext cx="4846320" cy="80467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3913632" y="2505456"/>
            <a:ext cx="5029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/>
          <p:nvPr/>
        </p:nvSpPr>
        <p:spPr>
          <a:xfrm>
            <a:off x="4462272" y="2523744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Kết hợp nhiều nguồn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5"/>
          <p:cNvSpPr/>
          <p:nvPr/>
        </p:nvSpPr>
        <p:spPr>
          <a:xfrm>
            <a:off x="4462272" y="2798064"/>
            <a:ext cx="4160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Điểm số + Chuyên cần + Bài tập + Lịch sử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Điểm tin cậy cao hơn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3858768" y="3401568"/>
            <a:ext cx="4846320" cy="80467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5"/>
          <p:cNvSpPr/>
          <p:nvPr/>
        </p:nvSpPr>
        <p:spPr>
          <a:xfrm>
            <a:off x="3913632" y="3438144"/>
            <a:ext cx="50292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/>
          <p:nvPr/>
        </p:nvSpPr>
        <p:spPr>
          <a:xfrm>
            <a:off x="4462272" y="3456432"/>
            <a:ext cx="4160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3 Mức độ rõ ràng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5"/>
          <p:cNvSpPr/>
          <p:nvPr/>
        </p:nvSpPr>
        <p:spPr>
          <a:xfrm>
            <a:off x="4462272" y="3730752"/>
            <a:ext cx="41605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CAO (&gt;75%) / TRUNG BÌNH (50-75%)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THẤP (&lt;50%) → GV biết cần xem xét thêm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457200" y="4626864"/>
            <a:ext cx="8229600" cy="402336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5"/>
          <p:cNvSpPr/>
          <p:nvPr/>
        </p:nvSpPr>
        <p:spPr>
          <a:xfrm>
            <a:off x="548640" y="4672584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Confidence Calibration — Tránh AI overconfidence — Đảm bảo giảng viên luôn biết mức độ tin cậy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1F3F3D-F92A-2066-5E93-31B44EE57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6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PHÂN TÍCH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Đồ Thị Môn Tiên Quyết — Chuỗi Nguy Hiểm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457200" y="1005840"/>
            <a:ext cx="8394192" cy="54864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6"/>
          <p:cNvSpPr/>
          <p:nvPr/>
        </p:nvSpPr>
        <p:spPr>
          <a:xfrm>
            <a:off x="457200" y="1115568"/>
            <a:ext cx="4224528" cy="37673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6"/>
          <p:cNvSpPr/>
          <p:nvPr/>
        </p:nvSpPr>
        <p:spPr>
          <a:xfrm>
            <a:off x="457200" y="1115568"/>
            <a:ext cx="4224528" cy="310896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548640" y="1115568"/>
            <a:ext cx="404164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Ví Dụ — Chuỗi Đứt Gãy Nguy Hiểm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1481328" y="1627632"/>
            <a:ext cx="1508760" cy="658368"/>
          </a:xfrm>
          <a:prstGeom prst="rect">
            <a:avLst/>
          </a:prstGeom>
          <a:solidFill>
            <a:srgbClr val="232D42"/>
          </a:solidFill>
          <a:ln w="1905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6"/>
          <p:cNvSpPr/>
          <p:nvPr/>
        </p:nvSpPr>
        <p:spPr>
          <a:xfrm>
            <a:off x="1554480" y="1664208"/>
            <a:ext cx="13624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Cơ Bản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1554480" y="1993392"/>
            <a:ext cx="13624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Rớt ❌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1481328" y="2578608"/>
            <a:ext cx="1508760" cy="658368"/>
          </a:xfrm>
          <a:prstGeom prst="rect">
            <a:avLst/>
          </a:prstGeom>
          <a:solidFill>
            <a:srgbClr val="232D42"/>
          </a:solidFill>
          <a:ln w="190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6"/>
          <p:cNvSpPr/>
          <p:nvPr/>
        </p:nvSpPr>
        <p:spPr>
          <a:xfrm>
            <a:off x="1554480" y="2615184"/>
            <a:ext cx="13624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PHP 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1554480" y="2944368"/>
            <a:ext cx="13624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Nguy cơ ⚠️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658368" y="3547872"/>
            <a:ext cx="1508760" cy="658368"/>
          </a:xfrm>
          <a:prstGeom prst="rect">
            <a:avLst/>
          </a:prstGeom>
          <a:solidFill>
            <a:srgbClr val="232D42"/>
          </a:solidFill>
          <a:ln w="1905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6"/>
          <p:cNvSpPr/>
          <p:nvPr/>
        </p:nvSpPr>
        <p:spPr>
          <a:xfrm>
            <a:off x="731520" y="3584448"/>
            <a:ext cx="13624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PHP 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731520" y="3913632"/>
            <a:ext cx="13624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Sẽ rớt 🔴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2304288" y="3547872"/>
            <a:ext cx="1508760" cy="658368"/>
          </a:xfrm>
          <a:prstGeom prst="rect">
            <a:avLst/>
          </a:prstGeom>
          <a:solidFill>
            <a:srgbClr val="232D42"/>
          </a:solidFill>
          <a:ln w="1905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6"/>
          <p:cNvSpPr/>
          <p:nvPr/>
        </p:nvSpPr>
        <p:spPr>
          <a:xfrm>
            <a:off x="2377440" y="3584448"/>
            <a:ext cx="13624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Dự Án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Tốt Nghiệp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2377440" y="3913632"/>
            <a:ext cx="136245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Ảnh hưởng 🔴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5" name="Google Shape;535;p16"/>
          <p:cNvCxnSpPr/>
          <p:nvPr/>
        </p:nvCxnSpPr>
        <p:spPr>
          <a:xfrm>
            <a:off x="1920240" y="2286000"/>
            <a:ext cx="0" cy="292608"/>
          </a:xfrm>
          <a:prstGeom prst="straightConnector1">
            <a:avLst/>
          </a:prstGeom>
          <a:noFill/>
          <a:ln w="254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6" name="Google Shape;536;p16"/>
          <p:cNvSpPr/>
          <p:nvPr/>
        </p:nvSpPr>
        <p:spPr>
          <a:xfrm>
            <a:off x="1828800" y="2487168"/>
            <a:ext cx="1828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7" name="Google Shape;537;p16"/>
          <p:cNvCxnSpPr/>
          <p:nvPr/>
        </p:nvCxnSpPr>
        <p:spPr>
          <a:xfrm>
            <a:off x="1920240" y="3236976"/>
            <a:ext cx="0" cy="310896"/>
          </a:xfrm>
          <a:prstGeom prst="straightConnector1">
            <a:avLst/>
          </a:prstGeom>
          <a:noFill/>
          <a:ln w="254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8" name="Google Shape;538;p16"/>
          <p:cNvSpPr/>
          <p:nvPr/>
        </p:nvSpPr>
        <p:spPr>
          <a:xfrm>
            <a:off x="1371600" y="3364992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↙↓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4828032" y="1115568"/>
            <a:ext cx="4023360" cy="376732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6"/>
          <p:cNvSpPr/>
          <p:nvPr/>
        </p:nvSpPr>
        <p:spPr>
          <a:xfrm>
            <a:off x="4828032" y="1115568"/>
            <a:ext cx="4023360" cy="310896"/>
          </a:xfrm>
          <a:prstGeom prst="rect">
            <a:avLst/>
          </a:prstGeom>
          <a:solidFill>
            <a:srgbClr val="92400E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6"/>
          <p:cNvSpPr/>
          <p:nvPr/>
        </p:nvSpPr>
        <p:spPr>
          <a:xfrm>
            <a:off x="4919472" y="111556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Tác Động Dây Chuyền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6"/>
          <p:cNvSpPr/>
          <p:nvPr/>
        </p:nvSpPr>
        <p:spPr>
          <a:xfrm>
            <a:off x="4956048" y="1536192"/>
            <a:ext cx="3767328" cy="65836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6"/>
          <p:cNvSpPr/>
          <p:nvPr/>
        </p:nvSpPr>
        <p:spPr>
          <a:xfrm>
            <a:off x="5010912" y="157276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6"/>
          <p:cNvSpPr/>
          <p:nvPr/>
        </p:nvSpPr>
        <p:spPr>
          <a:xfrm>
            <a:off x="5504688" y="1591056"/>
            <a:ext cx="31455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Phát hiện 'nút thắt'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6"/>
          <p:cNvSpPr/>
          <p:nvPr/>
        </p:nvSpPr>
        <p:spPr>
          <a:xfrm>
            <a:off x="5504688" y="1847088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Môn nào gây rớt nhiều nhất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6"/>
          <p:cNvSpPr/>
          <p:nvPr/>
        </p:nvSpPr>
        <p:spPr>
          <a:xfrm>
            <a:off x="4956048" y="2286000"/>
            <a:ext cx="3767328" cy="65836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6"/>
          <p:cNvSpPr/>
          <p:nvPr/>
        </p:nvSpPr>
        <p:spPr>
          <a:xfrm>
            <a:off x="5010912" y="232257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6"/>
          <p:cNvSpPr/>
          <p:nvPr/>
        </p:nvSpPr>
        <p:spPr>
          <a:xfrm>
            <a:off x="5504688" y="2340864"/>
            <a:ext cx="31455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Phân tích chuỗi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6"/>
          <p:cNvSpPr/>
          <p:nvPr/>
        </p:nvSpPr>
        <p:spPr>
          <a:xfrm>
            <a:off x="5504688" y="2596896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môn rớt → kéo theo bao nhiêu môn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6"/>
          <p:cNvSpPr/>
          <p:nvPr/>
        </p:nvSpPr>
        <p:spPr>
          <a:xfrm>
            <a:off x="4956048" y="3035808"/>
            <a:ext cx="3767328" cy="65836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6"/>
          <p:cNvSpPr/>
          <p:nvPr/>
        </p:nvSpPr>
        <p:spPr>
          <a:xfrm>
            <a:off x="5010912" y="3072384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6"/>
          <p:cNvSpPr/>
          <p:nvPr/>
        </p:nvSpPr>
        <p:spPr>
          <a:xfrm>
            <a:off x="5504688" y="3090672"/>
            <a:ext cx="31455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Cảnh báo sớm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6"/>
          <p:cNvSpPr/>
          <p:nvPr/>
        </p:nvSpPr>
        <p:spPr>
          <a:xfrm>
            <a:off x="5504688" y="3346704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Phát hiện ngay khi xuất hiện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dấu hiệu đầu tiên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6"/>
          <p:cNvSpPr/>
          <p:nvPr/>
        </p:nvSpPr>
        <p:spPr>
          <a:xfrm>
            <a:off x="4956048" y="3785616"/>
            <a:ext cx="3767328" cy="658368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6"/>
          <p:cNvSpPr/>
          <p:nvPr/>
        </p:nvSpPr>
        <p:spPr>
          <a:xfrm>
            <a:off x="5010912" y="382219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6"/>
          <p:cNvSpPr/>
          <p:nvPr/>
        </p:nvSpPr>
        <p:spPr>
          <a:xfrm>
            <a:off x="5504688" y="3840480"/>
            <a:ext cx="31455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Đề xuất ưu tiên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6"/>
          <p:cNvSpPr/>
          <p:nvPr/>
        </p:nvSpPr>
        <p:spPr>
          <a:xfrm>
            <a:off x="5504688" y="4096512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Môn nào cần can thiệp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trước tiên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457200" y="4626864"/>
            <a:ext cx="8229600" cy="402336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6"/>
          <p:cNvSpPr/>
          <p:nvPr/>
        </p:nvSpPr>
        <p:spPr>
          <a:xfrm>
            <a:off x="548640" y="4672584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CD34D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CD34D"/>
                </a:solidFill>
                <a:latin typeface="Calibri"/>
                <a:ea typeface="Calibri"/>
                <a:cs typeface="Calibri"/>
                <a:sym typeface="Calibri"/>
              </a:rPr>
              <a:t>Dependency Graph Analysis — Phát hiện chuỗi đứt gãy trước khi sinh viên rớt hàng loạt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233F63-4EA9-3A66-1995-60DE7B171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7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17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CÔNG NGHỆ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7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Công Nghệ Sử Dụng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7"/>
          <p:cNvSpPr/>
          <p:nvPr/>
        </p:nvSpPr>
        <p:spPr>
          <a:xfrm>
            <a:off x="457200" y="1005839"/>
            <a:ext cx="8558784" cy="45719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7"/>
          <p:cNvSpPr/>
          <p:nvPr/>
        </p:nvSpPr>
        <p:spPr>
          <a:xfrm>
            <a:off x="457200" y="1115568"/>
            <a:ext cx="2029968" cy="374904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7"/>
          <p:cNvSpPr/>
          <p:nvPr/>
        </p:nvSpPr>
        <p:spPr>
          <a:xfrm>
            <a:off x="457200" y="1115568"/>
            <a:ext cx="2029968" cy="310896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7"/>
          <p:cNvSpPr/>
          <p:nvPr/>
        </p:nvSpPr>
        <p:spPr>
          <a:xfrm>
            <a:off x="457200" y="1115568"/>
            <a:ext cx="20299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Giao Diện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7"/>
          <p:cNvSpPr/>
          <p:nvPr/>
        </p:nvSpPr>
        <p:spPr>
          <a:xfrm>
            <a:off x="566928" y="1536192"/>
            <a:ext cx="1810512" cy="69494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7"/>
          <p:cNvSpPr/>
          <p:nvPr/>
        </p:nvSpPr>
        <p:spPr>
          <a:xfrm>
            <a:off x="640080" y="1591056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7"/>
          <p:cNvSpPr/>
          <p:nvPr/>
        </p:nvSpPr>
        <p:spPr>
          <a:xfrm>
            <a:off x="640080" y="1883664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SPA nhanh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7"/>
          <p:cNvSpPr/>
          <p:nvPr/>
        </p:nvSpPr>
        <p:spPr>
          <a:xfrm>
            <a:off x="566928" y="2340864"/>
            <a:ext cx="1810512" cy="69494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7"/>
          <p:cNvSpPr/>
          <p:nvPr/>
        </p:nvSpPr>
        <p:spPr>
          <a:xfrm>
            <a:off x="640080" y="239572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Tailwind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640080" y="2688336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Dark UI đẹp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566928" y="3145536"/>
            <a:ext cx="1810512" cy="69494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7"/>
          <p:cNvSpPr/>
          <p:nvPr/>
        </p:nvSpPr>
        <p:spPr>
          <a:xfrm>
            <a:off x="640080" y="320040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Recharts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640080" y="349300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Biểu đồ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2633472" y="1115568"/>
            <a:ext cx="2029968" cy="374904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7"/>
          <p:cNvSpPr/>
          <p:nvPr/>
        </p:nvSpPr>
        <p:spPr>
          <a:xfrm>
            <a:off x="2633472" y="1115568"/>
            <a:ext cx="2029968" cy="310896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7"/>
          <p:cNvSpPr/>
          <p:nvPr/>
        </p:nvSpPr>
        <p:spPr>
          <a:xfrm>
            <a:off x="2633472" y="1115568"/>
            <a:ext cx="20299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Máy Chủ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2743200" y="1536192"/>
            <a:ext cx="1810512" cy="69494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7"/>
          <p:cNvSpPr/>
          <p:nvPr/>
        </p:nvSpPr>
        <p:spPr>
          <a:xfrm>
            <a:off x="2816352" y="1591056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2816352" y="1883664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Backend API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7"/>
          <p:cNvSpPr/>
          <p:nvPr/>
        </p:nvSpPr>
        <p:spPr>
          <a:xfrm>
            <a:off x="2743200" y="2340864"/>
            <a:ext cx="1810512" cy="69494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7"/>
          <p:cNvSpPr/>
          <p:nvPr/>
        </p:nvSpPr>
        <p:spPr>
          <a:xfrm>
            <a:off x="2816352" y="239572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Express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7"/>
          <p:cNvSpPr/>
          <p:nvPr/>
        </p:nvSpPr>
        <p:spPr>
          <a:xfrm>
            <a:off x="2816352" y="2688336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REST Server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2743200" y="3145536"/>
            <a:ext cx="1810512" cy="69494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7"/>
          <p:cNvSpPr/>
          <p:nvPr/>
        </p:nvSpPr>
        <p:spPr>
          <a:xfrm>
            <a:off x="2816352" y="320040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Prisma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7"/>
          <p:cNvSpPr/>
          <p:nvPr/>
        </p:nvSpPr>
        <p:spPr>
          <a:xfrm>
            <a:off x="2816352" y="349300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ORM an toàn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7"/>
          <p:cNvSpPr/>
          <p:nvPr/>
        </p:nvSpPr>
        <p:spPr>
          <a:xfrm>
            <a:off x="4809744" y="1115568"/>
            <a:ext cx="2029968" cy="374904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7"/>
          <p:cNvSpPr/>
          <p:nvPr/>
        </p:nvSpPr>
        <p:spPr>
          <a:xfrm>
            <a:off x="4809744" y="1115568"/>
            <a:ext cx="2029968" cy="310896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7"/>
          <p:cNvSpPr/>
          <p:nvPr/>
        </p:nvSpPr>
        <p:spPr>
          <a:xfrm>
            <a:off x="4809744" y="1115568"/>
            <a:ext cx="20299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Trí Tuệ AI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7"/>
          <p:cNvSpPr/>
          <p:nvPr/>
        </p:nvSpPr>
        <p:spPr>
          <a:xfrm>
            <a:off x="4919472" y="1536192"/>
            <a:ext cx="1810512" cy="69494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7"/>
          <p:cNvSpPr/>
          <p:nvPr/>
        </p:nvSpPr>
        <p:spPr>
          <a:xfrm>
            <a:off x="4992624" y="1591056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lang="en-US" sz="1300" b="1" i="0" u="none" strike="noStrike" cap="none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Thống</a:t>
            </a:r>
            <a:r>
              <a:rPr lang="en-US" sz="13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kê</a:t>
            </a:r>
            <a:r>
              <a:rPr lang="en-US" sz="13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tương</a:t>
            </a:r>
            <a:r>
              <a:rPr lang="en-US" sz="13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quan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4992624" y="1883664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Pearson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7"/>
          <p:cNvSpPr/>
          <p:nvPr/>
        </p:nvSpPr>
        <p:spPr>
          <a:xfrm>
            <a:off x="4919472" y="2340864"/>
            <a:ext cx="1810512" cy="69494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17"/>
          <p:cNvSpPr/>
          <p:nvPr/>
        </p:nvSpPr>
        <p:spPr>
          <a:xfrm>
            <a:off x="4992624" y="239572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node-nlp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7"/>
          <p:cNvSpPr/>
          <p:nvPr/>
        </p:nvSpPr>
        <p:spPr>
          <a:xfrm>
            <a:off x="4992624" y="2688336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Chatbot NLP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/>
          <p:nvPr/>
        </p:nvSpPr>
        <p:spPr>
          <a:xfrm>
            <a:off x="4919472" y="3145536"/>
            <a:ext cx="1810512" cy="69494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7"/>
          <p:cNvSpPr/>
          <p:nvPr/>
        </p:nvSpPr>
        <p:spPr>
          <a:xfrm>
            <a:off x="4992624" y="320040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DSS Engine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7"/>
          <p:cNvSpPr/>
          <p:nvPr/>
        </p:nvSpPr>
        <p:spPr>
          <a:xfrm>
            <a:off x="4992624" y="349300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Tự xây dựng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7"/>
          <p:cNvSpPr/>
          <p:nvPr/>
        </p:nvSpPr>
        <p:spPr>
          <a:xfrm>
            <a:off x="6986016" y="1115568"/>
            <a:ext cx="2029968" cy="374904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7"/>
          <p:cNvSpPr/>
          <p:nvPr/>
        </p:nvSpPr>
        <p:spPr>
          <a:xfrm>
            <a:off x="6986016" y="1115568"/>
            <a:ext cx="2029968" cy="310896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7"/>
          <p:cNvSpPr/>
          <p:nvPr/>
        </p:nvSpPr>
        <p:spPr>
          <a:xfrm>
            <a:off x="6986016" y="1115568"/>
            <a:ext cx="202996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Cơ Sở Dữ Liệu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7095744" y="1536192"/>
            <a:ext cx="1810512" cy="69494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7"/>
          <p:cNvSpPr/>
          <p:nvPr/>
        </p:nvSpPr>
        <p:spPr>
          <a:xfrm>
            <a:off x="7168896" y="1591056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7168896" y="1883664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Sản xuất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/>
          <p:nvPr/>
        </p:nvSpPr>
        <p:spPr>
          <a:xfrm>
            <a:off x="7095744" y="2340864"/>
            <a:ext cx="1810512" cy="69494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17"/>
          <p:cNvSpPr/>
          <p:nvPr/>
        </p:nvSpPr>
        <p:spPr>
          <a:xfrm>
            <a:off x="7168896" y="239572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7"/>
          <p:cNvSpPr/>
          <p:nvPr/>
        </p:nvSpPr>
        <p:spPr>
          <a:xfrm>
            <a:off x="7168896" y="2688336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7"/>
          <p:cNvSpPr/>
          <p:nvPr/>
        </p:nvSpPr>
        <p:spPr>
          <a:xfrm>
            <a:off x="7095744" y="3145536"/>
            <a:ext cx="1810512" cy="69494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7"/>
          <p:cNvSpPr/>
          <p:nvPr/>
        </p:nvSpPr>
        <p:spPr>
          <a:xfrm>
            <a:off x="7168896" y="3200400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Prisma ORM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7168896" y="3493008"/>
            <a:ext cx="166420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Migration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95885C-DAEE-9BA8-FE44-FD2A07ED0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8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8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DEVOPS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CI/CD &amp; DevOps — Sẵn Sàng Triển Khai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457200" y="1005839"/>
            <a:ext cx="8375904" cy="45719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8"/>
          <p:cNvSpPr/>
          <p:nvPr/>
        </p:nvSpPr>
        <p:spPr>
          <a:xfrm>
            <a:off x="384048" y="1115568"/>
            <a:ext cx="1572768" cy="340156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8"/>
          <p:cNvSpPr/>
          <p:nvPr/>
        </p:nvSpPr>
        <p:spPr>
          <a:xfrm>
            <a:off x="384048" y="1115568"/>
            <a:ext cx="1572768" cy="54864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8"/>
          <p:cNvSpPr/>
          <p:nvPr/>
        </p:nvSpPr>
        <p:spPr>
          <a:xfrm>
            <a:off x="384048" y="1234440"/>
            <a:ext cx="15727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🐳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8"/>
          <p:cNvSpPr/>
          <p:nvPr/>
        </p:nvSpPr>
        <p:spPr>
          <a:xfrm>
            <a:off x="438912" y="202996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8"/>
          <p:cNvSpPr/>
          <p:nvPr/>
        </p:nvSpPr>
        <p:spPr>
          <a:xfrm>
            <a:off x="438912" y="2423160"/>
            <a:ext cx="146304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Đóng gói ứng dụng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chạy mọi môi trường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8"/>
          <p:cNvSpPr/>
          <p:nvPr/>
        </p:nvSpPr>
        <p:spPr>
          <a:xfrm>
            <a:off x="1993392" y="2103120"/>
            <a:ext cx="91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8"/>
          <p:cNvSpPr/>
          <p:nvPr/>
        </p:nvSpPr>
        <p:spPr>
          <a:xfrm>
            <a:off x="2103120" y="1115568"/>
            <a:ext cx="1572768" cy="340156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18"/>
          <p:cNvSpPr/>
          <p:nvPr/>
        </p:nvSpPr>
        <p:spPr>
          <a:xfrm>
            <a:off x="2103120" y="1115568"/>
            <a:ext cx="1572768" cy="54864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8"/>
          <p:cNvSpPr/>
          <p:nvPr/>
        </p:nvSpPr>
        <p:spPr>
          <a:xfrm>
            <a:off x="2103120" y="1234440"/>
            <a:ext cx="15727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8"/>
          <p:cNvSpPr/>
          <p:nvPr/>
        </p:nvSpPr>
        <p:spPr>
          <a:xfrm>
            <a:off x="2157984" y="202996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8"/>
          <p:cNvSpPr/>
          <p:nvPr/>
        </p:nvSpPr>
        <p:spPr>
          <a:xfrm>
            <a:off x="2157984" y="2423160"/>
            <a:ext cx="146304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Tự động build và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 khi push code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8"/>
          <p:cNvSpPr/>
          <p:nvPr/>
        </p:nvSpPr>
        <p:spPr>
          <a:xfrm>
            <a:off x="3712464" y="2103120"/>
            <a:ext cx="91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8"/>
          <p:cNvSpPr/>
          <p:nvPr/>
        </p:nvSpPr>
        <p:spPr>
          <a:xfrm>
            <a:off x="3822192" y="1115568"/>
            <a:ext cx="1572768" cy="340156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8"/>
          <p:cNvSpPr/>
          <p:nvPr/>
        </p:nvSpPr>
        <p:spPr>
          <a:xfrm>
            <a:off x="3822192" y="1115568"/>
            <a:ext cx="1572768" cy="54864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8"/>
          <p:cNvSpPr/>
          <p:nvPr/>
        </p:nvSpPr>
        <p:spPr>
          <a:xfrm>
            <a:off x="3822192" y="1234440"/>
            <a:ext cx="15727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🔨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8"/>
          <p:cNvSpPr/>
          <p:nvPr/>
        </p:nvSpPr>
        <p:spPr>
          <a:xfrm>
            <a:off x="3877056" y="202996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Tự Động Build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3877056" y="2423160"/>
            <a:ext cx="146304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Pipeline CI/CD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không cần tay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8"/>
          <p:cNvSpPr/>
          <p:nvPr/>
        </p:nvSpPr>
        <p:spPr>
          <a:xfrm>
            <a:off x="5431536" y="2103120"/>
            <a:ext cx="91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8"/>
          <p:cNvSpPr/>
          <p:nvPr/>
        </p:nvSpPr>
        <p:spPr>
          <a:xfrm>
            <a:off x="5541264" y="1115568"/>
            <a:ext cx="1572768" cy="340156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8"/>
          <p:cNvSpPr/>
          <p:nvPr/>
        </p:nvSpPr>
        <p:spPr>
          <a:xfrm>
            <a:off x="5541264" y="1115568"/>
            <a:ext cx="1572768" cy="54864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8"/>
          <p:cNvSpPr/>
          <p:nvPr/>
        </p:nvSpPr>
        <p:spPr>
          <a:xfrm>
            <a:off x="5541264" y="1234440"/>
            <a:ext cx="15727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8"/>
          <p:cNvSpPr/>
          <p:nvPr/>
        </p:nvSpPr>
        <p:spPr>
          <a:xfrm>
            <a:off x="5596128" y="202996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Docker Đa Giai Đoạn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8"/>
          <p:cNvSpPr/>
          <p:nvPr/>
        </p:nvSpPr>
        <p:spPr>
          <a:xfrm>
            <a:off x="5596128" y="2423160"/>
            <a:ext cx="146304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Image nhỏ nhất có thể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tối ưu production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7150608" y="2103120"/>
            <a:ext cx="91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7260336" y="1115568"/>
            <a:ext cx="1572768" cy="340156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8"/>
          <p:cNvSpPr/>
          <p:nvPr/>
        </p:nvSpPr>
        <p:spPr>
          <a:xfrm>
            <a:off x="7260336" y="1115568"/>
            <a:ext cx="1572768" cy="54864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8"/>
          <p:cNvSpPr/>
          <p:nvPr/>
        </p:nvSpPr>
        <p:spPr>
          <a:xfrm>
            <a:off x="7260336" y="1234440"/>
            <a:ext cx="15727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🟢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8"/>
          <p:cNvSpPr/>
          <p:nvPr/>
        </p:nvSpPr>
        <p:spPr>
          <a:xfrm>
            <a:off x="7315200" y="202996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Node.js 22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8"/>
          <p:cNvSpPr/>
          <p:nvPr/>
        </p:nvSpPr>
        <p:spPr>
          <a:xfrm>
            <a:off x="7315200" y="2423160"/>
            <a:ext cx="146304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Phiên bản LTS mới nhất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hỗ trợ lâu dài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8"/>
          <p:cNvSpPr/>
          <p:nvPr/>
        </p:nvSpPr>
        <p:spPr>
          <a:xfrm>
            <a:off x="457200" y="4626864"/>
            <a:ext cx="8229600" cy="402336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8"/>
          <p:cNvSpPr/>
          <p:nvPr/>
        </p:nvSpPr>
        <p:spPr>
          <a:xfrm>
            <a:off x="548640" y="4672584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CI/CD tự động → Build → Test → Deploy — Hệ thống luôn sẵn sàng, không downtime khi cập nhật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64292B2-7EFE-E8C4-CAB3-AC795A714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9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19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KỸ THUẬT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9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Những Lỗi Lớn Đã Giải Quyết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9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19"/>
          <p:cNvSpPr/>
          <p:nvPr/>
        </p:nvSpPr>
        <p:spPr>
          <a:xfrm>
            <a:off x="457200" y="1115568"/>
            <a:ext cx="8229600" cy="475488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19"/>
          <p:cNvSpPr/>
          <p:nvPr/>
        </p:nvSpPr>
        <p:spPr>
          <a:xfrm>
            <a:off x="548640" y="1170432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400"/>
              <a:buFont typeface="Calibri"/>
              <a:buNone/>
            </a:pPr>
            <a:r>
              <a:rPr lang="en-US" sz="1400" b="1" i="1" u="none" strike="noStrike" cap="none">
                <a:solidFill>
                  <a:srgbClr val="C4B5FD"/>
                </a:solidFill>
                <a:latin typeface="Calibri"/>
                <a:ea typeface="Calibri"/>
                <a:cs typeface="Calibri"/>
                <a:sym typeface="Calibri"/>
              </a:rPr>
              <a:t>"Chúng tôi không chỉ xây tính năng — mà còn xây hệ thống ổn định."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9"/>
          <p:cNvSpPr/>
          <p:nvPr/>
        </p:nvSpPr>
        <p:spPr>
          <a:xfrm>
            <a:off x="457200" y="1719072"/>
            <a:ext cx="8229600" cy="53035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9"/>
          <p:cNvSpPr/>
          <p:nvPr/>
        </p:nvSpPr>
        <p:spPr>
          <a:xfrm>
            <a:off x="457200" y="1719072"/>
            <a:ext cx="45720" cy="530352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19"/>
          <p:cNvSpPr/>
          <p:nvPr/>
        </p:nvSpPr>
        <p:spPr>
          <a:xfrm>
            <a:off x="548640" y="1719072"/>
            <a:ext cx="1554480" cy="530352"/>
          </a:xfrm>
          <a:prstGeom prst="rect">
            <a:avLst/>
          </a:prstGeom>
          <a:solidFill>
            <a:srgbClr val="7F1D1D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9"/>
          <p:cNvSpPr/>
          <p:nvPr/>
        </p:nvSpPr>
        <p:spPr>
          <a:xfrm>
            <a:off x="594360" y="1764792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🐛  API Rate Limit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19"/>
          <p:cNvSpPr/>
          <p:nvPr/>
        </p:nvSpPr>
        <p:spPr>
          <a:xfrm>
            <a:off x="2176272" y="1764792"/>
            <a:ext cx="331012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Nguyên nhân: Gọi API quá nhiều lần/giây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9"/>
          <p:cNvSpPr/>
          <p:nvPr/>
        </p:nvSpPr>
        <p:spPr>
          <a:xfrm>
            <a:off x="5541264" y="1737360"/>
            <a:ext cx="3063240" cy="493776"/>
          </a:xfrm>
          <a:prstGeom prst="rect">
            <a:avLst/>
          </a:prstGeom>
          <a:solidFill>
            <a:srgbClr val="0D281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19"/>
          <p:cNvSpPr/>
          <p:nvPr/>
        </p:nvSpPr>
        <p:spPr>
          <a:xfrm>
            <a:off x="5614416" y="1792224"/>
            <a:ext cx="29169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✅  Thêm queue + throttle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9"/>
          <p:cNvSpPr/>
          <p:nvPr/>
        </p:nvSpPr>
        <p:spPr>
          <a:xfrm>
            <a:off x="457200" y="2340864"/>
            <a:ext cx="8229600" cy="53035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19"/>
          <p:cNvSpPr/>
          <p:nvPr/>
        </p:nvSpPr>
        <p:spPr>
          <a:xfrm>
            <a:off x="457200" y="2340864"/>
            <a:ext cx="45720" cy="530352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19"/>
          <p:cNvSpPr/>
          <p:nvPr/>
        </p:nvSpPr>
        <p:spPr>
          <a:xfrm>
            <a:off x="548640" y="2340864"/>
            <a:ext cx="1554480" cy="530352"/>
          </a:xfrm>
          <a:prstGeom prst="rect">
            <a:avLst/>
          </a:prstGeom>
          <a:solidFill>
            <a:srgbClr val="7F1D1D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19"/>
          <p:cNvSpPr/>
          <p:nvPr/>
        </p:nvSpPr>
        <p:spPr>
          <a:xfrm>
            <a:off x="594360" y="2386584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🐛  Frontend Crash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9"/>
          <p:cNvSpPr/>
          <p:nvPr/>
        </p:nvSpPr>
        <p:spPr>
          <a:xfrm>
            <a:off x="2176272" y="2386584"/>
            <a:ext cx="331012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Nguyên nhân: State không đồng bộ khi load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19"/>
          <p:cNvSpPr/>
          <p:nvPr/>
        </p:nvSpPr>
        <p:spPr>
          <a:xfrm>
            <a:off x="5541264" y="2359152"/>
            <a:ext cx="3063240" cy="493776"/>
          </a:xfrm>
          <a:prstGeom prst="rect">
            <a:avLst/>
          </a:prstGeom>
          <a:solidFill>
            <a:srgbClr val="0D281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9"/>
          <p:cNvSpPr/>
          <p:nvPr/>
        </p:nvSpPr>
        <p:spPr>
          <a:xfrm>
            <a:off x="5614416" y="2414016"/>
            <a:ext cx="29169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✅  Thêm loading state + error boundary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9"/>
          <p:cNvSpPr/>
          <p:nvPr/>
        </p:nvSpPr>
        <p:spPr>
          <a:xfrm>
            <a:off x="457200" y="2962656"/>
            <a:ext cx="8229600" cy="53035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19"/>
          <p:cNvSpPr/>
          <p:nvPr/>
        </p:nvSpPr>
        <p:spPr>
          <a:xfrm>
            <a:off x="457200" y="2962656"/>
            <a:ext cx="45720" cy="530352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19"/>
          <p:cNvSpPr/>
          <p:nvPr/>
        </p:nvSpPr>
        <p:spPr>
          <a:xfrm>
            <a:off x="548640" y="2962656"/>
            <a:ext cx="1554480" cy="530352"/>
          </a:xfrm>
          <a:prstGeom prst="rect">
            <a:avLst/>
          </a:prstGeom>
          <a:solidFill>
            <a:srgbClr val="7F1D1D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19"/>
          <p:cNvSpPr/>
          <p:nvPr/>
        </p:nvSpPr>
        <p:spPr>
          <a:xfrm>
            <a:off x="594360" y="3008376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🐛  localStorage Hỏng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19"/>
          <p:cNvSpPr/>
          <p:nvPr/>
        </p:nvSpPr>
        <p:spPr>
          <a:xfrm>
            <a:off x="2176272" y="3008376"/>
            <a:ext cx="331012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Nguyên nhân: Data cũ xung đột phiên mới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9"/>
          <p:cNvSpPr/>
          <p:nvPr/>
        </p:nvSpPr>
        <p:spPr>
          <a:xfrm>
            <a:off x="5541264" y="2980944"/>
            <a:ext cx="3063240" cy="493776"/>
          </a:xfrm>
          <a:prstGeom prst="rect">
            <a:avLst/>
          </a:prstGeom>
          <a:solidFill>
            <a:srgbClr val="0D281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19"/>
          <p:cNvSpPr/>
          <p:nvPr/>
        </p:nvSpPr>
        <p:spPr>
          <a:xfrm>
            <a:off x="5614416" y="3035808"/>
            <a:ext cx="29169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✅  Auto-clear + schema versioning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9"/>
          <p:cNvSpPr/>
          <p:nvPr/>
        </p:nvSpPr>
        <p:spPr>
          <a:xfrm>
            <a:off x="457200" y="3584448"/>
            <a:ext cx="8229600" cy="53035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19"/>
          <p:cNvSpPr/>
          <p:nvPr/>
        </p:nvSpPr>
        <p:spPr>
          <a:xfrm>
            <a:off x="457200" y="3584448"/>
            <a:ext cx="45720" cy="530352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9"/>
          <p:cNvSpPr/>
          <p:nvPr/>
        </p:nvSpPr>
        <p:spPr>
          <a:xfrm>
            <a:off x="548640" y="3584448"/>
            <a:ext cx="1554480" cy="530352"/>
          </a:xfrm>
          <a:prstGeom prst="rect">
            <a:avLst/>
          </a:prstGeom>
          <a:solidFill>
            <a:srgbClr val="7F1D1D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9"/>
          <p:cNvSpPr/>
          <p:nvPr/>
        </p:nvSpPr>
        <p:spPr>
          <a:xfrm>
            <a:off x="594360" y="363016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🐛  Docker Build Thất Bại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9"/>
          <p:cNvSpPr/>
          <p:nvPr/>
        </p:nvSpPr>
        <p:spPr>
          <a:xfrm>
            <a:off x="2176272" y="3630168"/>
            <a:ext cx="331012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Nguyên nhân: Thiếu dependency trong image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9"/>
          <p:cNvSpPr/>
          <p:nvPr/>
        </p:nvSpPr>
        <p:spPr>
          <a:xfrm>
            <a:off x="5541264" y="3602736"/>
            <a:ext cx="3063240" cy="493776"/>
          </a:xfrm>
          <a:prstGeom prst="rect">
            <a:avLst/>
          </a:prstGeom>
          <a:solidFill>
            <a:srgbClr val="0D281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9"/>
          <p:cNvSpPr/>
          <p:nvPr/>
        </p:nvSpPr>
        <p:spPr>
          <a:xfrm>
            <a:off x="5614416" y="3657600"/>
            <a:ext cx="29169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✅  Multi-stage build + lock file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9"/>
          <p:cNvSpPr/>
          <p:nvPr/>
        </p:nvSpPr>
        <p:spPr>
          <a:xfrm>
            <a:off x="457200" y="4206240"/>
            <a:ext cx="8229600" cy="53035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19"/>
          <p:cNvSpPr/>
          <p:nvPr/>
        </p:nvSpPr>
        <p:spPr>
          <a:xfrm>
            <a:off x="457200" y="4206240"/>
            <a:ext cx="45720" cy="530352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19"/>
          <p:cNvSpPr/>
          <p:nvPr/>
        </p:nvSpPr>
        <p:spPr>
          <a:xfrm>
            <a:off x="548640" y="4206240"/>
            <a:ext cx="1554480" cy="530352"/>
          </a:xfrm>
          <a:prstGeom prst="rect">
            <a:avLst/>
          </a:prstGeom>
          <a:solidFill>
            <a:srgbClr val="7F1D1D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19"/>
          <p:cNvSpPr/>
          <p:nvPr/>
        </p:nvSpPr>
        <p:spPr>
          <a:xfrm>
            <a:off x="594360" y="4251960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🐛  Biểu Đồ Sai Format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9"/>
          <p:cNvSpPr/>
          <p:nvPr/>
        </p:nvSpPr>
        <p:spPr>
          <a:xfrm>
            <a:off x="2176272" y="4251960"/>
            <a:ext cx="331012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Nguyên nhân: Dữ liệu null gây NaN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9"/>
          <p:cNvSpPr/>
          <p:nvPr/>
        </p:nvSpPr>
        <p:spPr>
          <a:xfrm>
            <a:off x="5541264" y="4224528"/>
            <a:ext cx="3063240" cy="493776"/>
          </a:xfrm>
          <a:prstGeom prst="rect">
            <a:avLst/>
          </a:prstGeom>
          <a:solidFill>
            <a:srgbClr val="0D281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19"/>
          <p:cNvSpPr/>
          <p:nvPr/>
        </p:nvSpPr>
        <p:spPr>
          <a:xfrm>
            <a:off x="5614416" y="4279392"/>
            <a:ext cx="29169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✅  Data validation layer trước render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3F0BFC-5167-AC84-E1F0-6CE89BBFA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20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20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BẢO MẬT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0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Bảo Mật &amp; Quyền Riêng Tư Sinh Viên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0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20"/>
          <p:cNvSpPr/>
          <p:nvPr/>
        </p:nvSpPr>
        <p:spPr>
          <a:xfrm>
            <a:off x="457200" y="1115568"/>
            <a:ext cx="4187952" cy="173736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20"/>
          <p:cNvSpPr/>
          <p:nvPr/>
        </p:nvSpPr>
        <p:spPr>
          <a:xfrm>
            <a:off x="457200" y="1115568"/>
            <a:ext cx="4187952" cy="54864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20"/>
          <p:cNvSpPr/>
          <p:nvPr/>
        </p:nvSpPr>
        <p:spPr>
          <a:xfrm>
            <a:off x="566928" y="1243584"/>
            <a:ext cx="658368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lang="en-US" sz="4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0"/>
          <p:cNvSpPr/>
          <p:nvPr/>
        </p:nvSpPr>
        <p:spPr>
          <a:xfrm>
            <a:off x="1280160" y="12801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NLP Cục Bộ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0"/>
          <p:cNvSpPr/>
          <p:nvPr/>
        </p:nvSpPr>
        <p:spPr>
          <a:xfrm>
            <a:off x="1280160" y="1618488"/>
            <a:ext cx="324612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Không gửi dữ liệu sinh viên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lên AI bên ngoài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Toàn bộ xử lý trên máy chủ nội bộ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0"/>
          <p:cNvSpPr/>
          <p:nvPr/>
        </p:nvSpPr>
        <p:spPr>
          <a:xfrm>
            <a:off x="4892040" y="1115568"/>
            <a:ext cx="4187952" cy="173736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0"/>
          <p:cNvSpPr/>
          <p:nvPr/>
        </p:nvSpPr>
        <p:spPr>
          <a:xfrm>
            <a:off x="4892040" y="1115568"/>
            <a:ext cx="4187952" cy="54864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0"/>
          <p:cNvSpPr/>
          <p:nvPr/>
        </p:nvSpPr>
        <p:spPr>
          <a:xfrm>
            <a:off x="5001768" y="1243584"/>
            <a:ext cx="658368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lang="en-US" sz="4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0"/>
          <p:cNvSpPr/>
          <p:nvPr/>
        </p:nvSpPr>
        <p:spPr>
          <a:xfrm>
            <a:off x="5715000" y="12801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Phân Quyền RBAC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0"/>
          <p:cNvSpPr/>
          <p:nvPr/>
        </p:nvSpPr>
        <p:spPr>
          <a:xfrm>
            <a:off x="5715000" y="1618488"/>
            <a:ext cx="324612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Giảng viên A không xem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được lớp của Giảng viên B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Sinh viên chỉ xem của mình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0"/>
          <p:cNvSpPr/>
          <p:nvPr/>
        </p:nvSpPr>
        <p:spPr>
          <a:xfrm>
            <a:off x="457200" y="3054096"/>
            <a:ext cx="4187952" cy="173736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20"/>
          <p:cNvSpPr/>
          <p:nvPr/>
        </p:nvSpPr>
        <p:spPr>
          <a:xfrm>
            <a:off x="457200" y="3054096"/>
            <a:ext cx="4187952" cy="54864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20"/>
          <p:cNvSpPr/>
          <p:nvPr/>
        </p:nvSpPr>
        <p:spPr>
          <a:xfrm>
            <a:off x="566928" y="3182112"/>
            <a:ext cx="658368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lang="en-US" sz="4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0"/>
          <p:cNvSpPr/>
          <p:nvPr/>
        </p:nvSpPr>
        <p:spPr>
          <a:xfrm>
            <a:off x="1280160" y="32186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Con Người Quyết Định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0"/>
          <p:cNvSpPr/>
          <p:nvPr/>
        </p:nvSpPr>
        <p:spPr>
          <a:xfrm>
            <a:off x="1280160" y="3557016"/>
            <a:ext cx="324612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chỉ hỗ trợ — không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tự động ra quyết định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Giảng viên luôn kiểm soát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0"/>
          <p:cNvSpPr/>
          <p:nvPr/>
        </p:nvSpPr>
        <p:spPr>
          <a:xfrm>
            <a:off x="4892040" y="3054096"/>
            <a:ext cx="4187952" cy="173736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20"/>
          <p:cNvSpPr/>
          <p:nvPr/>
        </p:nvSpPr>
        <p:spPr>
          <a:xfrm>
            <a:off x="4892040" y="3054096"/>
            <a:ext cx="4187952" cy="54864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20"/>
          <p:cNvSpPr/>
          <p:nvPr/>
        </p:nvSpPr>
        <p:spPr>
          <a:xfrm>
            <a:off x="5001768" y="3182112"/>
            <a:ext cx="658368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lang="en-US" sz="4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0"/>
          <p:cNvSpPr/>
          <p:nvPr/>
        </p:nvSpPr>
        <p:spPr>
          <a:xfrm>
            <a:off x="5715000" y="32186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Minh Bạch Hoàn Toàn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0"/>
          <p:cNvSpPr/>
          <p:nvPr/>
        </p:nvSpPr>
        <p:spPr>
          <a:xfrm>
            <a:off x="5715000" y="3557016"/>
            <a:ext cx="324612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Mọi quyết định AI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đều có giải thích rõ ràng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Không hộp đen ẩn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09A280-E79F-32E4-316F-0C3728E9E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E1A"/>
        </a:solidFill>
        <a:effectLst/>
      </p:bgPr>
    </p:bg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2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21"/>
          <p:cNvSpPr/>
          <p:nvPr/>
        </p:nvSpPr>
        <p:spPr>
          <a:xfrm>
            <a:off x="457200" y="43891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Tác Động Thực Tế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1"/>
          <p:cNvSpPr/>
          <p:nvPr/>
        </p:nvSpPr>
        <p:spPr>
          <a:xfrm>
            <a:off x="1828800" y="1051560"/>
            <a:ext cx="5486400" cy="36576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21"/>
          <p:cNvSpPr/>
          <p:nvPr/>
        </p:nvSpPr>
        <p:spPr>
          <a:xfrm>
            <a:off x="457200" y="1207008"/>
            <a:ext cx="2029968" cy="217627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21"/>
          <p:cNvSpPr/>
          <p:nvPr/>
        </p:nvSpPr>
        <p:spPr>
          <a:xfrm>
            <a:off x="457200" y="1207008"/>
            <a:ext cx="2029968" cy="64008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21"/>
          <p:cNvSpPr/>
          <p:nvPr/>
        </p:nvSpPr>
        <p:spPr>
          <a:xfrm>
            <a:off x="457200" y="1325880"/>
            <a:ext cx="20299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Tuần 3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1"/>
          <p:cNvSpPr/>
          <p:nvPr/>
        </p:nvSpPr>
        <p:spPr>
          <a:xfrm>
            <a:off x="530352" y="208483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Phát hiện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nguy cơ sớm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1"/>
          <p:cNvSpPr/>
          <p:nvPr/>
        </p:nvSpPr>
        <p:spPr>
          <a:xfrm>
            <a:off x="530352" y="2450592"/>
            <a:ext cx="1883664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Thay vì tuần 13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1"/>
          <p:cNvSpPr/>
          <p:nvPr/>
        </p:nvSpPr>
        <p:spPr>
          <a:xfrm>
            <a:off x="2633472" y="1207008"/>
            <a:ext cx="2029968" cy="217627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21"/>
          <p:cNvSpPr/>
          <p:nvPr/>
        </p:nvSpPr>
        <p:spPr>
          <a:xfrm>
            <a:off x="2633472" y="1207008"/>
            <a:ext cx="2029968" cy="64008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21"/>
          <p:cNvSpPr/>
          <p:nvPr/>
        </p:nvSpPr>
        <p:spPr>
          <a:xfrm>
            <a:off x="2633472" y="1325880"/>
            <a:ext cx="20299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30%↓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1"/>
          <p:cNvSpPr/>
          <p:nvPr/>
        </p:nvSpPr>
        <p:spPr>
          <a:xfrm>
            <a:off x="2706624" y="208483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Giảm tỷ lệ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rớt môn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1"/>
          <p:cNvSpPr/>
          <p:nvPr/>
        </p:nvSpPr>
        <p:spPr>
          <a:xfrm>
            <a:off x="2706624" y="2450592"/>
            <a:ext cx="1883664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Dự kiến khi triển khai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1"/>
          <p:cNvSpPr/>
          <p:nvPr/>
        </p:nvSpPr>
        <p:spPr>
          <a:xfrm>
            <a:off x="4809744" y="1207008"/>
            <a:ext cx="2029968" cy="217627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21"/>
          <p:cNvSpPr/>
          <p:nvPr/>
        </p:nvSpPr>
        <p:spPr>
          <a:xfrm>
            <a:off x="4809744" y="1207008"/>
            <a:ext cx="2029968" cy="64008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21"/>
          <p:cNvSpPr/>
          <p:nvPr/>
        </p:nvSpPr>
        <p:spPr>
          <a:xfrm>
            <a:off x="4809744" y="1325880"/>
            <a:ext cx="20299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80%↓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1"/>
          <p:cNvSpPr/>
          <p:nvPr/>
        </p:nvSpPr>
        <p:spPr>
          <a:xfrm>
            <a:off x="4882896" y="208483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Giảm thời gian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rà soát thủ công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1"/>
          <p:cNvSpPr/>
          <p:nvPr/>
        </p:nvSpPr>
        <p:spPr>
          <a:xfrm>
            <a:off x="4882896" y="2450592"/>
            <a:ext cx="1883664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Excel → AI Dashboard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1"/>
          <p:cNvSpPr/>
          <p:nvPr/>
        </p:nvSpPr>
        <p:spPr>
          <a:xfrm>
            <a:off x="6986016" y="1207008"/>
            <a:ext cx="2029968" cy="217627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21"/>
          <p:cNvSpPr/>
          <p:nvPr/>
        </p:nvSpPr>
        <p:spPr>
          <a:xfrm>
            <a:off x="6986016" y="1207008"/>
            <a:ext cx="2029968" cy="64008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21"/>
          <p:cNvSpPr/>
          <p:nvPr/>
        </p:nvSpPr>
        <p:spPr>
          <a:xfrm>
            <a:off x="6986016" y="1325880"/>
            <a:ext cx="2029968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1"/>
          <p:cNvSpPr/>
          <p:nvPr/>
        </p:nvSpPr>
        <p:spPr>
          <a:xfrm>
            <a:off x="7059168" y="208483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Dữ liệu SV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gửi lên cloud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1"/>
          <p:cNvSpPr/>
          <p:nvPr/>
        </p:nvSpPr>
        <p:spPr>
          <a:xfrm>
            <a:off x="7059168" y="2450592"/>
            <a:ext cx="1883664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Privacy-First hoàn toàn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1"/>
          <p:cNvSpPr/>
          <p:nvPr/>
        </p:nvSpPr>
        <p:spPr>
          <a:xfrm>
            <a:off x="457200" y="352044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EduGuard AI giúp: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1"/>
          <p:cNvSpPr/>
          <p:nvPr/>
        </p:nvSpPr>
        <p:spPr>
          <a:xfrm>
            <a:off x="457200" y="3822192"/>
            <a:ext cx="202996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✓  Giảm nguy cơ rớt môn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1"/>
          <p:cNvSpPr/>
          <p:nvPr/>
        </p:nvSpPr>
        <p:spPr>
          <a:xfrm>
            <a:off x="2633472" y="3822192"/>
            <a:ext cx="202996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✓  Phát hiện sớm sinh viên yếu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1"/>
          <p:cNvSpPr/>
          <p:nvPr/>
        </p:nvSpPr>
        <p:spPr>
          <a:xfrm>
            <a:off x="4809744" y="3822192"/>
            <a:ext cx="202996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✓  Hỗ trợ cố vấn học tập hiệu quả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1"/>
          <p:cNvSpPr/>
          <p:nvPr/>
        </p:nvSpPr>
        <p:spPr>
          <a:xfrm>
            <a:off x="6986016" y="3822192"/>
            <a:ext cx="202996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86EFAC"/>
                </a:solidFill>
                <a:latin typeface="Calibri"/>
                <a:ea typeface="Calibri"/>
                <a:cs typeface="Calibri"/>
                <a:sym typeface="Calibri"/>
              </a:rPr>
              <a:t>✓  Giảm tỷ lệ bỏ học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E94F0F-CF08-67B4-DE5E-940BA692E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2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22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MỞ RỘNG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2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 Thể Mở Rộng Cho Nhiều Lĩnh Vực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2"/>
          <p:cNvSpPr/>
          <p:nvPr/>
        </p:nvSpPr>
        <p:spPr>
          <a:xfrm>
            <a:off x="457200" y="1005839"/>
            <a:ext cx="8622792" cy="45719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2"/>
          <p:cNvSpPr/>
          <p:nvPr/>
        </p:nvSpPr>
        <p:spPr>
          <a:xfrm>
            <a:off x="457200" y="1115568"/>
            <a:ext cx="4187952" cy="173736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22"/>
          <p:cNvSpPr/>
          <p:nvPr/>
        </p:nvSpPr>
        <p:spPr>
          <a:xfrm>
            <a:off x="457200" y="1115568"/>
            <a:ext cx="4187952" cy="54864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2"/>
          <p:cNvSpPr/>
          <p:nvPr/>
        </p:nvSpPr>
        <p:spPr>
          <a:xfrm>
            <a:off x="548640" y="1243584"/>
            <a:ext cx="658368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lang="en-US" sz="4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🏫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2"/>
          <p:cNvSpPr/>
          <p:nvPr/>
        </p:nvSpPr>
        <p:spPr>
          <a:xfrm>
            <a:off x="1280160" y="12801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Trường Học &amp; CĐ-ĐH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22"/>
          <p:cNvSpPr/>
          <p:nvPr/>
        </p:nvSpPr>
        <p:spPr>
          <a:xfrm>
            <a:off x="1280160" y="1618488"/>
            <a:ext cx="3246000" cy="11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Áp dụng ngay cho mọi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trường Cao đẳng, Đại học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Việt Nam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22"/>
          <p:cNvSpPr/>
          <p:nvPr/>
        </p:nvSpPr>
        <p:spPr>
          <a:xfrm>
            <a:off x="4892040" y="1115568"/>
            <a:ext cx="4187952" cy="173736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22"/>
          <p:cNvSpPr/>
          <p:nvPr/>
        </p:nvSpPr>
        <p:spPr>
          <a:xfrm>
            <a:off x="4892040" y="1115568"/>
            <a:ext cx="4187952" cy="54864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22"/>
          <p:cNvSpPr/>
          <p:nvPr/>
        </p:nvSpPr>
        <p:spPr>
          <a:xfrm>
            <a:off x="4983480" y="1243584"/>
            <a:ext cx="658368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lang="en-US" sz="4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🏢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2"/>
          <p:cNvSpPr/>
          <p:nvPr/>
        </p:nvSpPr>
        <p:spPr>
          <a:xfrm>
            <a:off x="5715000" y="128016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Trung Tâm Đào Tạo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2"/>
          <p:cNvSpPr/>
          <p:nvPr/>
        </p:nvSpPr>
        <p:spPr>
          <a:xfrm>
            <a:off x="5715000" y="1618488"/>
            <a:ext cx="324612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Theo dõi học viên khóa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ngắn hạn, chứng chỉ nghề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2"/>
          <p:cNvSpPr/>
          <p:nvPr/>
        </p:nvSpPr>
        <p:spPr>
          <a:xfrm>
            <a:off x="457200" y="3054096"/>
            <a:ext cx="4187952" cy="173736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22"/>
          <p:cNvSpPr/>
          <p:nvPr/>
        </p:nvSpPr>
        <p:spPr>
          <a:xfrm>
            <a:off x="457200" y="3054096"/>
            <a:ext cx="4187952" cy="54864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22"/>
          <p:cNvSpPr/>
          <p:nvPr/>
        </p:nvSpPr>
        <p:spPr>
          <a:xfrm>
            <a:off x="548640" y="3182112"/>
            <a:ext cx="658368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lang="en-US" sz="4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2"/>
          <p:cNvSpPr/>
          <p:nvPr/>
        </p:nvSpPr>
        <p:spPr>
          <a:xfrm>
            <a:off x="1280160" y="32186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Nền Tảng LMS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2"/>
          <p:cNvSpPr/>
          <p:nvPr/>
        </p:nvSpPr>
        <p:spPr>
          <a:xfrm>
            <a:off x="1280160" y="3557016"/>
            <a:ext cx="324612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Tích hợp API vào Canvas,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Moodle hoặc LMS nội bộ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2"/>
          <p:cNvSpPr/>
          <p:nvPr/>
        </p:nvSpPr>
        <p:spPr>
          <a:xfrm>
            <a:off x="4892040" y="3054096"/>
            <a:ext cx="4187952" cy="173736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22"/>
          <p:cNvSpPr/>
          <p:nvPr/>
        </p:nvSpPr>
        <p:spPr>
          <a:xfrm>
            <a:off x="4892040" y="3054096"/>
            <a:ext cx="4187952" cy="54864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2"/>
          <p:cNvSpPr/>
          <p:nvPr/>
        </p:nvSpPr>
        <p:spPr>
          <a:xfrm>
            <a:off x="4983480" y="3182112"/>
            <a:ext cx="658368" cy="148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Calibri"/>
              <a:buNone/>
            </a:pPr>
            <a:r>
              <a:rPr lang="en-US" sz="4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🏭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2"/>
          <p:cNvSpPr/>
          <p:nvPr/>
        </p:nvSpPr>
        <p:spPr>
          <a:xfrm>
            <a:off x="5715000" y="32186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Đào Tạo Doanh Nghiệp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2"/>
          <p:cNvSpPr/>
          <p:nvPr/>
        </p:nvSpPr>
        <p:spPr>
          <a:xfrm>
            <a:off x="5715000" y="3557016"/>
            <a:ext cx="3246120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Theo dõi nhân viên học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skill mới, onboarding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94FD3DF-6F34-4CCE-458D-CACCCCCDC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23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23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LỘ TRÌNH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3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Lộ Trình Phát Triển — 4 Giai Đoạn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3"/>
          <p:cNvSpPr/>
          <p:nvPr/>
        </p:nvSpPr>
        <p:spPr>
          <a:xfrm>
            <a:off x="457200" y="1005839"/>
            <a:ext cx="8558784" cy="45719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23"/>
          <p:cNvSpPr/>
          <p:nvPr/>
        </p:nvSpPr>
        <p:spPr>
          <a:xfrm>
            <a:off x="457200" y="1115568"/>
            <a:ext cx="2029968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23"/>
          <p:cNvSpPr/>
          <p:nvPr/>
        </p:nvSpPr>
        <p:spPr>
          <a:xfrm>
            <a:off x="457200" y="1115568"/>
            <a:ext cx="2029968" cy="54864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23"/>
          <p:cNvSpPr/>
          <p:nvPr/>
        </p:nvSpPr>
        <p:spPr>
          <a:xfrm>
            <a:off x="822960" y="1207008"/>
            <a:ext cx="1298448" cy="237744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23"/>
          <p:cNvSpPr/>
          <p:nvPr/>
        </p:nvSpPr>
        <p:spPr>
          <a:xfrm>
            <a:off x="822960" y="1207008"/>
            <a:ext cx="129844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Giai Đoạn 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3"/>
          <p:cNvSpPr/>
          <p:nvPr/>
        </p:nvSpPr>
        <p:spPr>
          <a:xfrm>
            <a:off x="530352" y="1536192"/>
            <a:ext cx="18836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DSS Hiện Tại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3"/>
          <p:cNvSpPr/>
          <p:nvPr/>
        </p:nvSpPr>
        <p:spPr>
          <a:xfrm>
            <a:off x="548640" y="1938528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✅  Rule-based DSS Engine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3"/>
          <p:cNvSpPr/>
          <p:nvPr/>
        </p:nvSpPr>
        <p:spPr>
          <a:xfrm>
            <a:off x="548640" y="2322576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✅  NLP Chatbot Tiếng Việt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3"/>
          <p:cNvSpPr/>
          <p:nvPr/>
        </p:nvSpPr>
        <p:spPr>
          <a:xfrm>
            <a:off x="548640" y="2706624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✅  XAI Giải thích được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3"/>
          <p:cNvSpPr/>
          <p:nvPr/>
        </p:nvSpPr>
        <p:spPr>
          <a:xfrm>
            <a:off x="548640" y="309067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✅  Dashboard + RBAC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3"/>
          <p:cNvSpPr/>
          <p:nvPr/>
        </p:nvSpPr>
        <p:spPr>
          <a:xfrm>
            <a:off x="713232" y="4187952"/>
            <a:ext cx="1508760" cy="34747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23"/>
          <p:cNvSpPr/>
          <p:nvPr/>
        </p:nvSpPr>
        <p:spPr>
          <a:xfrm>
            <a:off x="713232" y="418795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Hoàn thành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3"/>
          <p:cNvSpPr/>
          <p:nvPr/>
        </p:nvSpPr>
        <p:spPr>
          <a:xfrm>
            <a:off x="2633472" y="1115568"/>
            <a:ext cx="2029968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23"/>
          <p:cNvSpPr/>
          <p:nvPr/>
        </p:nvSpPr>
        <p:spPr>
          <a:xfrm>
            <a:off x="2633472" y="1115568"/>
            <a:ext cx="2029968" cy="54864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23"/>
          <p:cNvSpPr/>
          <p:nvPr/>
        </p:nvSpPr>
        <p:spPr>
          <a:xfrm>
            <a:off x="2999232" y="1207008"/>
            <a:ext cx="1298448" cy="237744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23"/>
          <p:cNvSpPr/>
          <p:nvPr/>
        </p:nvSpPr>
        <p:spPr>
          <a:xfrm>
            <a:off x="2999232" y="1207008"/>
            <a:ext cx="129844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Giai Đoạn 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3"/>
          <p:cNvSpPr/>
          <p:nvPr/>
        </p:nvSpPr>
        <p:spPr>
          <a:xfrm>
            <a:off x="2706624" y="1536192"/>
            <a:ext cx="18836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Python XGBoost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3"/>
          <p:cNvSpPr/>
          <p:nvPr/>
        </p:nvSpPr>
        <p:spPr>
          <a:xfrm>
            <a:off x="2724912" y="1938528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📌  Nâng cấp lên XGBoost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3"/>
          <p:cNvSpPr/>
          <p:nvPr/>
        </p:nvSpPr>
        <p:spPr>
          <a:xfrm>
            <a:off x="2724912" y="2322576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📌  Feature Engineering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3"/>
          <p:cNvSpPr/>
          <p:nvPr/>
        </p:nvSpPr>
        <p:spPr>
          <a:xfrm>
            <a:off x="2724912" y="2706624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📌  Cross-validation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3"/>
          <p:cNvSpPr/>
          <p:nvPr/>
        </p:nvSpPr>
        <p:spPr>
          <a:xfrm>
            <a:off x="2724912" y="309067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📌  Tỷ lệ chính xác cao hơn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3"/>
          <p:cNvSpPr/>
          <p:nvPr/>
        </p:nvSpPr>
        <p:spPr>
          <a:xfrm>
            <a:off x="2889504" y="4187952"/>
            <a:ext cx="1508760" cy="34747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23"/>
          <p:cNvSpPr/>
          <p:nvPr/>
        </p:nvSpPr>
        <p:spPr>
          <a:xfrm>
            <a:off x="2889504" y="418795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Sắp tới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3"/>
          <p:cNvSpPr/>
          <p:nvPr/>
        </p:nvSpPr>
        <p:spPr>
          <a:xfrm>
            <a:off x="4809744" y="1115568"/>
            <a:ext cx="2029968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23"/>
          <p:cNvSpPr/>
          <p:nvPr/>
        </p:nvSpPr>
        <p:spPr>
          <a:xfrm>
            <a:off x="4809744" y="1115568"/>
            <a:ext cx="2029968" cy="54864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23"/>
          <p:cNvSpPr/>
          <p:nvPr/>
        </p:nvSpPr>
        <p:spPr>
          <a:xfrm>
            <a:off x="5175504" y="1207008"/>
            <a:ext cx="1298448" cy="237744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23"/>
          <p:cNvSpPr/>
          <p:nvPr/>
        </p:nvSpPr>
        <p:spPr>
          <a:xfrm>
            <a:off x="5175504" y="1207008"/>
            <a:ext cx="129844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Giai Đoạn 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3"/>
          <p:cNvSpPr/>
          <p:nvPr/>
        </p:nvSpPr>
        <p:spPr>
          <a:xfrm>
            <a:off x="4882896" y="1536192"/>
            <a:ext cx="18836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Neo4j Knowledge Graph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3"/>
          <p:cNvSpPr/>
          <p:nvPr/>
        </p:nvSpPr>
        <p:spPr>
          <a:xfrm>
            <a:off x="4901184" y="1938528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🔗  Graph Database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3"/>
          <p:cNvSpPr/>
          <p:nvPr/>
        </p:nvSpPr>
        <p:spPr>
          <a:xfrm>
            <a:off x="4901184" y="2322576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🔗  Chuỗi môn học phức tạp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3"/>
          <p:cNvSpPr/>
          <p:nvPr/>
        </p:nvSpPr>
        <p:spPr>
          <a:xfrm>
            <a:off x="4901184" y="2706624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🔗  Gợi ý học tập thông minh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3"/>
          <p:cNvSpPr/>
          <p:nvPr/>
        </p:nvSpPr>
        <p:spPr>
          <a:xfrm>
            <a:off x="4901184" y="309067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🔗  Phân tích sâu hơn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3"/>
          <p:cNvSpPr/>
          <p:nvPr/>
        </p:nvSpPr>
        <p:spPr>
          <a:xfrm>
            <a:off x="5065776" y="4187952"/>
            <a:ext cx="1508760" cy="34747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23"/>
          <p:cNvSpPr/>
          <p:nvPr/>
        </p:nvSpPr>
        <p:spPr>
          <a:xfrm>
            <a:off x="5065776" y="418795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3"/>
          <p:cNvSpPr/>
          <p:nvPr/>
        </p:nvSpPr>
        <p:spPr>
          <a:xfrm>
            <a:off x="6986016" y="1115568"/>
            <a:ext cx="2029968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23"/>
          <p:cNvSpPr/>
          <p:nvPr/>
        </p:nvSpPr>
        <p:spPr>
          <a:xfrm>
            <a:off x="6986016" y="1115568"/>
            <a:ext cx="2029968" cy="54864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23"/>
          <p:cNvSpPr/>
          <p:nvPr/>
        </p:nvSpPr>
        <p:spPr>
          <a:xfrm>
            <a:off x="7351776" y="1207008"/>
            <a:ext cx="1298448" cy="237744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3"/>
          <p:cNvSpPr/>
          <p:nvPr/>
        </p:nvSpPr>
        <p:spPr>
          <a:xfrm>
            <a:off x="7351776" y="1207008"/>
            <a:ext cx="129844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Giai Đoạn 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3"/>
          <p:cNvSpPr/>
          <p:nvPr/>
        </p:nvSpPr>
        <p:spPr>
          <a:xfrm>
            <a:off x="7059168" y="1536192"/>
            <a:ext cx="188366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Vòng Phản Hồi Can Thiệp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3"/>
          <p:cNvSpPr/>
          <p:nvPr/>
        </p:nvSpPr>
        <p:spPr>
          <a:xfrm>
            <a:off x="7077456" y="1938528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🔄  Đo lường hiệu quả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3"/>
          <p:cNvSpPr/>
          <p:nvPr/>
        </p:nvSpPr>
        <p:spPr>
          <a:xfrm>
            <a:off x="7077456" y="2322576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🔄  AI học từ phản hồi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3"/>
          <p:cNvSpPr/>
          <p:nvPr/>
        </p:nvSpPr>
        <p:spPr>
          <a:xfrm>
            <a:off x="7077456" y="2706624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🔄  Cải thiện liên tục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3"/>
          <p:cNvSpPr/>
          <p:nvPr/>
        </p:nvSpPr>
        <p:spPr>
          <a:xfrm>
            <a:off x="7077456" y="3090672"/>
            <a:ext cx="1847088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🔄  Closed-loop AI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3"/>
          <p:cNvSpPr/>
          <p:nvPr/>
        </p:nvSpPr>
        <p:spPr>
          <a:xfrm>
            <a:off x="7242048" y="4187952"/>
            <a:ext cx="1508760" cy="347472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23"/>
          <p:cNvSpPr/>
          <p:nvPr/>
        </p:nvSpPr>
        <p:spPr>
          <a:xfrm>
            <a:off x="7242048" y="4187952"/>
            <a:ext cx="1508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V4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0D3E74-DCA5-DDAA-3893-DCA0723BC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24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24"/>
          <p:cNvSpPr/>
          <p:nvPr/>
        </p:nvSpPr>
        <p:spPr>
          <a:xfrm>
            <a:off x="457200" y="182880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CẠNH TRANH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4"/>
          <p:cNvSpPr/>
          <p:nvPr/>
        </p:nvSpPr>
        <p:spPr>
          <a:xfrm>
            <a:off x="457200" y="51206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EduGuard vs Chatbot Thông Thường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4"/>
          <p:cNvSpPr/>
          <p:nvPr/>
        </p:nvSpPr>
        <p:spPr>
          <a:xfrm>
            <a:off x="457200" y="1005840"/>
            <a:ext cx="8549640" cy="54864"/>
          </a:xfrm>
          <a:prstGeom prst="rect">
            <a:avLst/>
          </a:prstGeom>
          <a:solidFill>
            <a:srgbClr val="06B6D4"/>
          </a:solidFill>
          <a:ln w="127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24"/>
          <p:cNvSpPr/>
          <p:nvPr/>
        </p:nvSpPr>
        <p:spPr>
          <a:xfrm>
            <a:off x="457200" y="1115568"/>
            <a:ext cx="3246120" cy="329184"/>
          </a:xfrm>
          <a:prstGeom prst="rect">
            <a:avLst/>
          </a:prstGeom>
          <a:solidFill>
            <a:srgbClr val="232D42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24"/>
          <p:cNvSpPr/>
          <p:nvPr/>
        </p:nvSpPr>
        <p:spPr>
          <a:xfrm>
            <a:off x="530352" y="1115568"/>
            <a:ext cx="309981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Tính Năng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4"/>
          <p:cNvSpPr/>
          <p:nvPr/>
        </p:nvSpPr>
        <p:spPr>
          <a:xfrm>
            <a:off x="3749040" y="1115568"/>
            <a:ext cx="2075688" cy="329184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24"/>
          <p:cNvSpPr/>
          <p:nvPr/>
        </p:nvSpPr>
        <p:spPr>
          <a:xfrm>
            <a:off x="3822192" y="1115568"/>
            <a:ext cx="19293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EduGuard DSS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4"/>
          <p:cNvSpPr/>
          <p:nvPr/>
        </p:nvSpPr>
        <p:spPr>
          <a:xfrm>
            <a:off x="5870448" y="1115568"/>
            <a:ext cx="1856232" cy="329184"/>
          </a:xfrm>
          <a:prstGeom prst="rect">
            <a:avLst/>
          </a:prstGeom>
          <a:solidFill>
            <a:srgbClr val="232D42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4"/>
          <p:cNvSpPr/>
          <p:nvPr/>
        </p:nvSpPr>
        <p:spPr>
          <a:xfrm>
            <a:off x="5943600" y="1115568"/>
            <a:ext cx="170992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Chatbot GPT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4"/>
          <p:cNvSpPr/>
          <p:nvPr/>
        </p:nvSpPr>
        <p:spPr>
          <a:xfrm>
            <a:off x="7772400" y="1115568"/>
            <a:ext cx="1234440" cy="329184"/>
          </a:xfrm>
          <a:prstGeom prst="rect">
            <a:avLst/>
          </a:prstGeom>
          <a:solidFill>
            <a:srgbClr val="232D42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24"/>
          <p:cNvSpPr/>
          <p:nvPr/>
        </p:nvSpPr>
        <p:spPr>
          <a:xfrm>
            <a:off x="7845552" y="1115568"/>
            <a:ext cx="108813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Dashboard Thường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4"/>
          <p:cNvSpPr/>
          <p:nvPr/>
        </p:nvSpPr>
        <p:spPr>
          <a:xfrm>
            <a:off x="457200" y="1481328"/>
            <a:ext cx="3246120" cy="420624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24"/>
          <p:cNvSpPr/>
          <p:nvPr/>
        </p:nvSpPr>
        <p:spPr>
          <a:xfrm>
            <a:off x="530352" y="1481328"/>
            <a:ext cx="309981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AI Giải Thích Được (XAI)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4"/>
          <p:cNvSpPr/>
          <p:nvPr/>
        </p:nvSpPr>
        <p:spPr>
          <a:xfrm>
            <a:off x="3749040" y="1481328"/>
            <a:ext cx="2075688" cy="420624"/>
          </a:xfrm>
          <a:prstGeom prst="rect">
            <a:avLst/>
          </a:prstGeom>
          <a:solidFill>
            <a:srgbClr val="1A223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24"/>
          <p:cNvSpPr/>
          <p:nvPr/>
        </p:nvSpPr>
        <p:spPr>
          <a:xfrm>
            <a:off x="3822192" y="1481328"/>
            <a:ext cx="19293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4"/>
          <p:cNvSpPr/>
          <p:nvPr/>
        </p:nvSpPr>
        <p:spPr>
          <a:xfrm>
            <a:off x="5870448" y="1481328"/>
            <a:ext cx="1856232" cy="420624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24"/>
          <p:cNvSpPr/>
          <p:nvPr/>
        </p:nvSpPr>
        <p:spPr>
          <a:xfrm>
            <a:off x="5943600" y="1481328"/>
            <a:ext cx="17099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4"/>
          <p:cNvSpPr/>
          <p:nvPr/>
        </p:nvSpPr>
        <p:spPr>
          <a:xfrm>
            <a:off x="7772400" y="1481328"/>
            <a:ext cx="1234440" cy="420624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24"/>
          <p:cNvSpPr/>
          <p:nvPr/>
        </p:nvSpPr>
        <p:spPr>
          <a:xfrm>
            <a:off x="7845552" y="1481328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4"/>
          <p:cNvSpPr/>
          <p:nvPr/>
        </p:nvSpPr>
        <p:spPr>
          <a:xfrm>
            <a:off x="457200" y="1956816"/>
            <a:ext cx="3246120" cy="42062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24"/>
          <p:cNvSpPr/>
          <p:nvPr/>
        </p:nvSpPr>
        <p:spPr>
          <a:xfrm>
            <a:off x="530352" y="1956816"/>
            <a:ext cx="309981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Logic DSS minh bạch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4"/>
          <p:cNvSpPr/>
          <p:nvPr/>
        </p:nvSpPr>
        <p:spPr>
          <a:xfrm>
            <a:off x="3749040" y="1956816"/>
            <a:ext cx="2075688" cy="420624"/>
          </a:xfrm>
          <a:prstGeom prst="rect">
            <a:avLst/>
          </a:prstGeom>
          <a:solidFill>
            <a:srgbClr val="232D42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24"/>
          <p:cNvSpPr/>
          <p:nvPr/>
        </p:nvSpPr>
        <p:spPr>
          <a:xfrm>
            <a:off x="3822192" y="1956816"/>
            <a:ext cx="19293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4"/>
          <p:cNvSpPr/>
          <p:nvPr/>
        </p:nvSpPr>
        <p:spPr>
          <a:xfrm>
            <a:off x="5870448" y="1956816"/>
            <a:ext cx="1856232" cy="42062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24"/>
          <p:cNvSpPr/>
          <p:nvPr/>
        </p:nvSpPr>
        <p:spPr>
          <a:xfrm>
            <a:off x="5943600" y="1956816"/>
            <a:ext cx="17099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4"/>
          <p:cNvSpPr/>
          <p:nvPr/>
        </p:nvSpPr>
        <p:spPr>
          <a:xfrm>
            <a:off x="7772400" y="1956816"/>
            <a:ext cx="1234440" cy="42062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24"/>
          <p:cNvSpPr/>
          <p:nvPr/>
        </p:nvSpPr>
        <p:spPr>
          <a:xfrm>
            <a:off x="7845552" y="1956816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4"/>
          <p:cNvSpPr/>
          <p:nvPr/>
        </p:nvSpPr>
        <p:spPr>
          <a:xfrm>
            <a:off x="457200" y="2432304"/>
            <a:ext cx="3246120" cy="420624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24"/>
          <p:cNvSpPr/>
          <p:nvPr/>
        </p:nvSpPr>
        <p:spPr>
          <a:xfrm>
            <a:off x="530352" y="2432304"/>
            <a:ext cx="309981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NLP Cục Bộ (không cloud)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24"/>
          <p:cNvSpPr/>
          <p:nvPr/>
        </p:nvSpPr>
        <p:spPr>
          <a:xfrm>
            <a:off x="3749040" y="2432304"/>
            <a:ext cx="2075688" cy="420624"/>
          </a:xfrm>
          <a:prstGeom prst="rect">
            <a:avLst/>
          </a:prstGeom>
          <a:solidFill>
            <a:srgbClr val="1A223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24"/>
          <p:cNvSpPr/>
          <p:nvPr/>
        </p:nvSpPr>
        <p:spPr>
          <a:xfrm>
            <a:off x="3822192" y="2432304"/>
            <a:ext cx="19293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4"/>
          <p:cNvSpPr/>
          <p:nvPr/>
        </p:nvSpPr>
        <p:spPr>
          <a:xfrm>
            <a:off x="5870448" y="2432304"/>
            <a:ext cx="1856232" cy="420624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24"/>
          <p:cNvSpPr/>
          <p:nvPr/>
        </p:nvSpPr>
        <p:spPr>
          <a:xfrm>
            <a:off x="5943600" y="2432304"/>
            <a:ext cx="17099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4"/>
          <p:cNvSpPr/>
          <p:nvPr/>
        </p:nvSpPr>
        <p:spPr>
          <a:xfrm>
            <a:off x="7772400" y="2432304"/>
            <a:ext cx="1234440" cy="420624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24"/>
          <p:cNvSpPr/>
          <p:nvPr/>
        </p:nvSpPr>
        <p:spPr>
          <a:xfrm>
            <a:off x="7845552" y="2432304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4"/>
          <p:cNvSpPr/>
          <p:nvPr/>
        </p:nvSpPr>
        <p:spPr>
          <a:xfrm>
            <a:off x="457200" y="2907792"/>
            <a:ext cx="3246120" cy="42062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24"/>
          <p:cNvSpPr/>
          <p:nvPr/>
        </p:nvSpPr>
        <p:spPr>
          <a:xfrm>
            <a:off x="530352" y="2907792"/>
            <a:ext cx="309981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Phân Tích Môn Tiên Quyết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4"/>
          <p:cNvSpPr/>
          <p:nvPr/>
        </p:nvSpPr>
        <p:spPr>
          <a:xfrm>
            <a:off x="3749040" y="2907792"/>
            <a:ext cx="2075688" cy="420624"/>
          </a:xfrm>
          <a:prstGeom prst="rect">
            <a:avLst/>
          </a:prstGeom>
          <a:solidFill>
            <a:srgbClr val="232D42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24"/>
          <p:cNvSpPr/>
          <p:nvPr/>
        </p:nvSpPr>
        <p:spPr>
          <a:xfrm>
            <a:off x="3822192" y="2907792"/>
            <a:ext cx="19293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4"/>
          <p:cNvSpPr/>
          <p:nvPr/>
        </p:nvSpPr>
        <p:spPr>
          <a:xfrm>
            <a:off x="5870448" y="2907792"/>
            <a:ext cx="1856232" cy="42062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24"/>
          <p:cNvSpPr/>
          <p:nvPr/>
        </p:nvSpPr>
        <p:spPr>
          <a:xfrm>
            <a:off x="5943600" y="2907792"/>
            <a:ext cx="17099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4"/>
          <p:cNvSpPr/>
          <p:nvPr/>
        </p:nvSpPr>
        <p:spPr>
          <a:xfrm>
            <a:off x="7772400" y="2907792"/>
            <a:ext cx="1234440" cy="42062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24"/>
          <p:cNvSpPr/>
          <p:nvPr/>
        </p:nvSpPr>
        <p:spPr>
          <a:xfrm>
            <a:off x="7845552" y="2907792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4"/>
          <p:cNvSpPr/>
          <p:nvPr/>
        </p:nvSpPr>
        <p:spPr>
          <a:xfrm>
            <a:off x="457200" y="3383280"/>
            <a:ext cx="3246120" cy="420624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24"/>
          <p:cNvSpPr/>
          <p:nvPr/>
        </p:nvSpPr>
        <p:spPr>
          <a:xfrm>
            <a:off x="530352" y="3383280"/>
            <a:ext cx="309981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Hiệu Chỉnh Độ Tin Cậy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4"/>
          <p:cNvSpPr/>
          <p:nvPr/>
        </p:nvSpPr>
        <p:spPr>
          <a:xfrm>
            <a:off x="3749040" y="3383280"/>
            <a:ext cx="2075688" cy="420624"/>
          </a:xfrm>
          <a:prstGeom prst="rect">
            <a:avLst/>
          </a:prstGeom>
          <a:solidFill>
            <a:srgbClr val="1A223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24"/>
          <p:cNvSpPr/>
          <p:nvPr/>
        </p:nvSpPr>
        <p:spPr>
          <a:xfrm>
            <a:off x="3822192" y="3383280"/>
            <a:ext cx="19293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4"/>
          <p:cNvSpPr/>
          <p:nvPr/>
        </p:nvSpPr>
        <p:spPr>
          <a:xfrm>
            <a:off x="5870448" y="3383280"/>
            <a:ext cx="1856232" cy="420624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24"/>
          <p:cNvSpPr/>
          <p:nvPr/>
        </p:nvSpPr>
        <p:spPr>
          <a:xfrm>
            <a:off x="5943600" y="3383280"/>
            <a:ext cx="17099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24"/>
          <p:cNvSpPr/>
          <p:nvPr/>
        </p:nvSpPr>
        <p:spPr>
          <a:xfrm>
            <a:off x="7772400" y="3383280"/>
            <a:ext cx="1234440" cy="420624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24"/>
          <p:cNvSpPr/>
          <p:nvPr/>
        </p:nvSpPr>
        <p:spPr>
          <a:xfrm>
            <a:off x="7845552" y="3383280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4"/>
          <p:cNvSpPr/>
          <p:nvPr/>
        </p:nvSpPr>
        <p:spPr>
          <a:xfrm>
            <a:off x="457200" y="3858768"/>
            <a:ext cx="3246120" cy="42062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24"/>
          <p:cNvSpPr/>
          <p:nvPr/>
        </p:nvSpPr>
        <p:spPr>
          <a:xfrm>
            <a:off x="530352" y="3858768"/>
            <a:ext cx="309981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Bộ Nhớ Ngữ Cảnh Hội Thoại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24"/>
          <p:cNvSpPr/>
          <p:nvPr/>
        </p:nvSpPr>
        <p:spPr>
          <a:xfrm>
            <a:off x="3749040" y="3858768"/>
            <a:ext cx="2075688" cy="420624"/>
          </a:xfrm>
          <a:prstGeom prst="rect">
            <a:avLst/>
          </a:prstGeom>
          <a:solidFill>
            <a:srgbClr val="232D42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24"/>
          <p:cNvSpPr/>
          <p:nvPr/>
        </p:nvSpPr>
        <p:spPr>
          <a:xfrm>
            <a:off x="3822192" y="3858768"/>
            <a:ext cx="19293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24"/>
          <p:cNvSpPr/>
          <p:nvPr/>
        </p:nvSpPr>
        <p:spPr>
          <a:xfrm>
            <a:off x="5870448" y="3858768"/>
            <a:ext cx="1856232" cy="42062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24"/>
          <p:cNvSpPr/>
          <p:nvPr/>
        </p:nvSpPr>
        <p:spPr>
          <a:xfrm>
            <a:off x="5943600" y="3858768"/>
            <a:ext cx="17099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24"/>
          <p:cNvSpPr/>
          <p:nvPr/>
        </p:nvSpPr>
        <p:spPr>
          <a:xfrm>
            <a:off x="7772400" y="3858768"/>
            <a:ext cx="1234440" cy="420624"/>
          </a:xfrm>
          <a:prstGeom prst="rect">
            <a:avLst/>
          </a:prstGeom>
          <a:solidFill>
            <a:srgbClr val="232D42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24"/>
          <p:cNvSpPr/>
          <p:nvPr/>
        </p:nvSpPr>
        <p:spPr>
          <a:xfrm>
            <a:off x="7845552" y="3858768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24"/>
          <p:cNvSpPr/>
          <p:nvPr/>
        </p:nvSpPr>
        <p:spPr>
          <a:xfrm>
            <a:off x="457200" y="4334256"/>
            <a:ext cx="3246120" cy="420624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24"/>
          <p:cNvSpPr/>
          <p:nvPr/>
        </p:nvSpPr>
        <p:spPr>
          <a:xfrm>
            <a:off x="530352" y="4334256"/>
            <a:ext cx="309981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Phân Quyền Theo Vai Trò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4"/>
          <p:cNvSpPr/>
          <p:nvPr/>
        </p:nvSpPr>
        <p:spPr>
          <a:xfrm>
            <a:off x="3749040" y="4334256"/>
            <a:ext cx="2075688" cy="420624"/>
          </a:xfrm>
          <a:prstGeom prst="rect">
            <a:avLst/>
          </a:prstGeom>
          <a:solidFill>
            <a:srgbClr val="1A223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24"/>
          <p:cNvSpPr/>
          <p:nvPr/>
        </p:nvSpPr>
        <p:spPr>
          <a:xfrm>
            <a:off x="3822192" y="4334256"/>
            <a:ext cx="19293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4"/>
          <p:cNvSpPr/>
          <p:nvPr/>
        </p:nvSpPr>
        <p:spPr>
          <a:xfrm>
            <a:off x="5870448" y="4334256"/>
            <a:ext cx="1856232" cy="420624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24"/>
          <p:cNvSpPr/>
          <p:nvPr/>
        </p:nvSpPr>
        <p:spPr>
          <a:xfrm>
            <a:off x="5943600" y="4334256"/>
            <a:ext cx="17099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4"/>
          <p:cNvSpPr/>
          <p:nvPr/>
        </p:nvSpPr>
        <p:spPr>
          <a:xfrm>
            <a:off x="7772400" y="4334256"/>
            <a:ext cx="1234440" cy="420624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24"/>
          <p:cNvSpPr/>
          <p:nvPr/>
        </p:nvSpPr>
        <p:spPr>
          <a:xfrm>
            <a:off x="7845552" y="4334256"/>
            <a:ext cx="1088136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4"/>
          <p:cNvSpPr/>
          <p:nvPr/>
        </p:nvSpPr>
        <p:spPr>
          <a:xfrm>
            <a:off x="457200" y="4626864"/>
            <a:ext cx="8229600" cy="402336"/>
          </a:xfrm>
          <a:prstGeom prst="rect">
            <a:avLst/>
          </a:prstGeom>
          <a:solidFill>
            <a:srgbClr val="1D4ED8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24"/>
          <p:cNvSpPr/>
          <p:nvPr/>
        </p:nvSpPr>
        <p:spPr>
          <a:xfrm>
            <a:off x="548640" y="4672584"/>
            <a:ext cx="804672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7E8F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67E8F9"/>
                </a:solidFill>
                <a:latin typeface="Calibri"/>
                <a:ea typeface="Calibri"/>
                <a:cs typeface="Calibri"/>
                <a:sym typeface="Calibri"/>
              </a:rPr>
              <a:t>EduGuard DSS = Hybrid AI Platform — Không phải chatbot, không phải dashboard thông thường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67C749-FD25-8581-05B4-704E6C56D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5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25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25"/>
          <p:cNvSpPr/>
          <p:nvPr/>
        </p:nvSpPr>
        <p:spPr>
          <a:xfrm>
            <a:off x="457200" y="685800"/>
            <a:ext cx="82296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lang="en-US" sz="5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Hãy để sản phẩm</a:t>
            </a:r>
            <a:endParaRPr sz="5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5"/>
          <p:cNvSpPr/>
          <p:nvPr/>
        </p:nvSpPr>
        <p:spPr>
          <a:xfrm>
            <a:off x="457200" y="1508760"/>
            <a:ext cx="8229600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5800"/>
              <a:buFont typeface="Calibri"/>
              <a:buNone/>
            </a:pPr>
            <a:r>
              <a:rPr lang="en-US" sz="58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tự cất tiếng nói.</a:t>
            </a:r>
            <a:endParaRPr sz="5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5"/>
          <p:cNvSpPr/>
          <p:nvPr/>
        </p:nvSpPr>
        <p:spPr>
          <a:xfrm>
            <a:off x="3200400" y="2487168"/>
            <a:ext cx="2743200" cy="36576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25"/>
          <p:cNvSpPr/>
          <p:nvPr/>
        </p:nvSpPr>
        <p:spPr>
          <a:xfrm>
            <a:off x="457200" y="2852928"/>
            <a:ext cx="2724912" cy="153619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25"/>
          <p:cNvSpPr/>
          <p:nvPr/>
        </p:nvSpPr>
        <p:spPr>
          <a:xfrm>
            <a:off x="457200" y="2852928"/>
            <a:ext cx="2724912" cy="54864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25"/>
          <p:cNvSpPr/>
          <p:nvPr/>
        </p:nvSpPr>
        <p:spPr>
          <a:xfrm>
            <a:off x="1115568" y="2971800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25"/>
          <p:cNvSpPr/>
          <p:nvPr/>
        </p:nvSpPr>
        <p:spPr>
          <a:xfrm>
            <a:off x="1115568" y="29718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5"/>
          <p:cNvSpPr/>
          <p:nvPr/>
        </p:nvSpPr>
        <p:spPr>
          <a:xfrm>
            <a:off x="548640" y="3520440"/>
            <a:ext cx="25420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Hỏi top SV rủi ro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5"/>
          <p:cNvSpPr/>
          <p:nvPr/>
        </p:nvSpPr>
        <p:spPr>
          <a:xfrm>
            <a:off x="548640" y="3858768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→ Xem danh sách đỏ rực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5"/>
          <p:cNvSpPr/>
          <p:nvPr/>
        </p:nvSpPr>
        <p:spPr>
          <a:xfrm>
            <a:off x="3310128" y="2852928"/>
            <a:ext cx="2724912" cy="153619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25"/>
          <p:cNvSpPr/>
          <p:nvPr/>
        </p:nvSpPr>
        <p:spPr>
          <a:xfrm>
            <a:off x="3310128" y="2852928"/>
            <a:ext cx="2724912" cy="54864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25"/>
          <p:cNvSpPr/>
          <p:nvPr/>
        </p:nvSpPr>
        <p:spPr>
          <a:xfrm>
            <a:off x="3968496" y="2971800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25"/>
          <p:cNvSpPr/>
          <p:nvPr/>
        </p:nvSpPr>
        <p:spPr>
          <a:xfrm>
            <a:off x="3968496" y="29718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5"/>
          <p:cNvSpPr/>
          <p:nvPr/>
        </p:nvSpPr>
        <p:spPr>
          <a:xfrm>
            <a:off x="3401568" y="3520440"/>
            <a:ext cx="25420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phân tích sinh viên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5"/>
          <p:cNvSpPr/>
          <p:nvPr/>
        </p:nvSpPr>
        <p:spPr>
          <a:xfrm>
            <a:off x="3401568" y="3858768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→ Điểm rủi ro + XAI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5"/>
          <p:cNvSpPr/>
          <p:nvPr/>
        </p:nvSpPr>
        <p:spPr>
          <a:xfrm>
            <a:off x="6163056" y="2852928"/>
            <a:ext cx="2724912" cy="1536192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25"/>
          <p:cNvSpPr/>
          <p:nvPr/>
        </p:nvSpPr>
        <p:spPr>
          <a:xfrm>
            <a:off x="6163056" y="2852928"/>
            <a:ext cx="2724912" cy="54864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25"/>
          <p:cNvSpPr/>
          <p:nvPr/>
        </p:nvSpPr>
        <p:spPr>
          <a:xfrm>
            <a:off x="6821424" y="2971800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25"/>
          <p:cNvSpPr/>
          <p:nvPr/>
        </p:nvSpPr>
        <p:spPr>
          <a:xfrm>
            <a:off x="6821424" y="29718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5"/>
          <p:cNvSpPr/>
          <p:nvPr/>
        </p:nvSpPr>
        <p:spPr>
          <a:xfrm>
            <a:off x="6254496" y="3520440"/>
            <a:ext cx="25420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Xem Bảng Điều Khiển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25"/>
          <p:cNvSpPr/>
          <p:nvPr/>
        </p:nvSpPr>
        <p:spPr>
          <a:xfrm>
            <a:off x="6254496" y="3858768"/>
            <a:ext cx="2542032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3C5FD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93C5FD"/>
                </a:solidFill>
                <a:latin typeface="Calibri"/>
                <a:ea typeface="Calibri"/>
                <a:cs typeface="Calibri"/>
                <a:sym typeface="Calibri"/>
              </a:rPr>
              <a:t>→ Heatmap + Biểu đồ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2CF0CE-0017-D903-29BA-49482513C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6"/>
          <p:cNvSpPr/>
          <p:nvPr/>
        </p:nvSpPr>
        <p:spPr>
          <a:xfrm>
            <a:off x="457200" y="182880"/>
            <a:ext cx="1920300" cy="246900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26"/>
          <p:cNvSpPr/>
          <p:nvPr/>
        </p:nvSpPr>
        <p:spPr>
          <a:xfrm>
            <a:off x="457200" y="182880"/>
            <a:ext cx="1920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TÍNH NĂNG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26"/>
          <p:cNvSpPr/>
          <p:nvPr/>
        </p:nvSpPr>
        <p:spPr>
          <a:xfrm>
            <a:off x="457200" y="512064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Các </a:t>
            </a: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Tính Năng </a:t>
            </a: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Tương Lai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6"/>
          <p:cNvSpPr/>
          <p:nvPr/>
        </p:nvSpPr>
        <p:spPr>
          <a:xfrm>
            <a:off x="457200" y="1005839"/>
            <a:ext cx="8558916" cy="45719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26"/>
          <p:cNvSpPr/>
          <p:nvPr/>
        </p:nvSpPr>
        <p:spPr>
          <a:xfrm>
            <a:off x="457200" y="1115568"/>
            <a:ext cx="2030100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26"/>
          <p:cNvSpPr/>
          <p:nvPr/>
        </p:nvSpPr>
        <p:spPr>
          <a:xfrm>
            <a:off x="457200" y="1115568"/>
            <a:ext cx="2030100" cy="54900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26"/>
          <p:cNvSpPr/>
          <p:nvPr/>
        </p:nvSpPr>
        <p:spPr>
          <a:xfrm>
            <a:off x="457200" y="1234440"/>
            <a:ext cx="2030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🔮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6"/>
          <p:cNvSpPr/>
          <p:nvPr/>
        </p:nvSpPr>
        <p:spPr>
          <a:xfrm>
            <a:off x="530352" y="2029968"/>
            <a:ext cx="18837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300"/>
              <a:buFont typeface="Calibri"/>
              <a:buNone/>
            </a:pPr>
            <a:r>
              <a:rPr lang="en-US" sz="1300" b="1" i="0" u="none" strike="noStrike" cap="none" err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Phân</a:t>
            </a:r>
            <a:r>
              <a:rPr lang="en-US" sz="13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err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Tích</a:t>
            </a:r>
            <a:r>
              <a:rPr lang="en-US" sz="13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err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Dữ</a:t>
            </a:r>
            <a:r>
              <a:rPr lang="en-US" sz="13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err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Liệu</a:t>
            </a:r>
            <a:r>
              <a:rPr lang="en-US" sz="13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err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Học</a:t>
            </a:r>
            <a:r>
              <a:rPr lang="en-US" sz="1300" b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err="1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Vụ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6"/>
          <p:cNvSpPr/>
          <p:nvPr/>
        </p:nvSpPr>
        <p:spPr>
          <a:xfrm>
            <a:off x="868680" y="2468880"/>
            <a:ext cx="1206900" cy="27300"/>
          </a:xfrm>
          <a:prstGeom prst="rect">
            <a:avLst/>
          </a:prstGeom>
          <a:solidFill>
            <a:srgbClr val="EF4444"/>
          </a:solidFill>
          <a:ln w="127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26"/>
          <p:cNvSpPr/>
          <p:nvPr/>
        </p:nvSpPr>
        <p:spPr>
          <a:xfrm>
            <a:off x="530352" y="2578608"/>
            <a:ext cx="18837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Gom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toàn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bộ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Phân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tích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độ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khó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Truy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vết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nguyên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nhân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sâu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6"/>
          <p:cNvSpPr/>
          <p:nvPr/>
        </p:nvSpPr>
        <p:spPr>
          <a:xfrm>
            <a:off x="2633472" y="1115568"/>
            <a:ext cx="2030100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26"/>
          <p:cNvSpPr/>
          <p:nvPr/>
        </p:nvSpPr>
        <p:spPr>
          <a:xfrm>
            <a:off x="2633472" y="1115568"/>
            <a:ext cx="2030100" cy="54900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26"/>
          <p:cNvSpPr/>
          <p:nvPr/>
        </p:nvSpPr>
        <p:spPr>
          <a:xfrm>
            <a:off x="2633472" y="1234440"/>
            <a:ext cx="2030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6"/>
          <p:cNvSpPr/>
          <p:nvPr/>
        </p:nvSpPr>
        <p:spPr>
          <a:xfrm>
            <a:off x="2706624" y="2029968"/>
            <a:ext cx="18837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lang="en-US" sz="1300" b="1" i="0" u="none" strike="noStrike" cap="none" err="1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Tiền</a:t>
            </a:r>
            <a:r>
              <a:rPr lang="en-US" sz="13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err="1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Cảnh</a:t>
            </a:r>
            <a:r>
              <a:rPr lang="en-US" sz="1300" b="1" i="0" u="none" strike="noStrike" cap="non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err="1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Báo</a:t>
            </a:r>
            <a:endParaRPr lang="en-US" sz="1300" b="1" i="0" u="none" strike="noStrike" cap="none">
              <a:solidFill>
                <a:srgbClr val="8B5CF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lang="en-US" sz="1300" b="1" err="1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Hồ</a:t>
            </a:r>
            <a:r>
              <a:rPr lang="en-US" sz="1300" b="1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err="1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Sơ</a:t>
            </a:r>
            <a:r>
              <a:rPr lang="en-US" sz="1300" b="1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 Sinh Viên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6"/>
          <p:cNvSpPr/>
          <p:nvPr/>
        </p:nvSpPr>
        <p:spPr>
          <a:xfrm>
            <a:off x="3044952" y="2468880"/>
            <a:ext cx="1206900" cy="27300"/>
          </a:xfrm>
          <a:prstGeom prst="rect">
            <a:avLst/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26"/>
          <p:cNvSpPr/>
          <p:nvPr/>
        </p:nvSpPr>
        <p:spPr>
          <a:xfrm>
            <a:off x="2706624" y="2578608"/>
            <a:ext cx="18837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Cung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cấp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insight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trước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1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tuần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Quản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lý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trạng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thái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đa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chiều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26"/>
          <p:cNvSpPr/>
          <p:nvPr/>
        </p:nvSpPr>
        <p:spPr>
          <a:xfrm>
            <a:off x="4809744" y="1115568"/>
            <a:ext cx="2030100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3" name="Google Shape;973;p26"/>
          <p:cNvSpPr/>
          <p:nvPr/>
        </p:nvSpPr>
        <p:spPr>
          <a:xfrm>
            <a:off x="4809744" y="1115568"/>
            <a:ext cx="2030100" cy="549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26"/>
          <p:cNvSpPr/>
          <p:nvPr/>
        </p:nvSpPr>
        <p:spPr>
          <a:xfrm>
            <a:off x="4809744" y="1234440"/>
            <a:ext cx="2030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6"/>
          <p:cNvSpPr/>
          <p:nvPr/>
        </p:nvSpPr>
        <p:spPr>
          <a:xfrm>
            <a:off x="4882896" y="2029968"/>
            <a:ext cx="18837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 i="0" u="none" strike="noStrike" cap="none" err="1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Mở</a:t>
            </a: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err="1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Rộng</a:t>
            </a:r>
            <a:r>
              <a:rPr lang="en-US" sz="13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Quy </a:t>
            </a:r>
            <a:r>
              <a:rPr lang="en-US" sz="1300" b="1" i="0" u="none" strike="noStrike" cap="none" err="1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Mô</a:t>
            </a:r>
            <a:endParaRPr lang="en-US" sz="1300" b="1" i="0" u="none" strike="noStrike" cap="none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Big Data &amp; ML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6"/>
          <p:cNvSpPr/>
          <p:nvPr/>
        </p:nvSpPr>
        <p:spPr>
          <a:xfrm>
            <a:off x="5221224" y="2468880"/>
            <a:ext cx="1206900" cy="27300"/>
          </a:xfrm>
          <a:prstGeom prst="rect">
            <a:avLst/>
          </a:prstGeom>
          <a:solidFill>
            <a:srgbClr val="F59E0B"/>
          </a:solidFill>
          <a:ln w="1270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7" name="Google Shape;977;p26"/>
          <p:cNvSpPr/>
          <p:nvPr/>
        </p:nvSpPr>
        <p:spPr>
          <a:xfrm>
            <a:off x="4882896" y="2578608"/>
            <a:ext cx="18837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Xử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lý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dữ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liệu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lớn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Nâng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cấp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AI Engine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6"/>
          <p:cNvSpPr/>
          <p:nvPr/>
        </p:nvSpPr>
        <p:spPr>
          <a:xfrm>
            <a:off x="6986016" y="1115568"/>
            <a:ext cx="2030100" cy="3657600"/>
          </a:xfrm>
          <a:prstGeom prst="rect">
            <a:avLst/>
          </a:prstGeom>
          <a:solidFill>
            <a:srgbClr val="1A2236"/>
          </a:solidFill>
          <a:ln w="9525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26"/>
          <p:cNvSpPr/>
          <p:nvPr/>
        </p:nvSpPr>
        <p:spPr>
          <a:xfrm>
            <a:off x="6986016" y="1115568"/>
            <a:ext cx="2030100" cy="54900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0" name="Google Shape;980;p26"/>
          <p:cNvSpPr/>
          <p:nvPr/>
        </p:nvSpPr>
        <p:spPr>
          <a:xfrm>
            <a:off x="6986016" y="1234440"/>
            <a:ext cx="20301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Calibri"/>
              <a:buNone/>
            </a:pPr>
            <a:r>
              <a:rPr lang="en-US" sz="4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6"/>
          <p:cNvSpPr/>
          <p:nvPr/>
        </p:nvSpPr>
        <p:spPr>
          <a:xfrm>
            <a:off x="7059168" y="2029968"/>
            <a:ext cx="18837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lang="en-US" sz="1300" b="1" i="0" u="none" strike="noStrike" cap="none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Lộ</a:t>
            </a:r>
            <a:r>
              <a:rPr lang="en-US" sz="13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Trình</a:t>
            </a:r>
            <a:r>
              <a:rPr lang="en-US" sz="13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Học</a:t>
            </a:r>
            <a:r>
              <a:rPr lang="en-US" sz="13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Tập</a:t>
            </a:r>
            <a:endParaRPr lang="en-US" sz="1300" b="1">
              <a:solidFill>
                <a:srgbClr val="22C5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i="0" u="none" strike="noStrike" cap="none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300" b="1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á</a:t>
            </a:r>
            <a:r>
              <a:rPr lang="en-US" sz="1300" b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Nhân</a:t>
            </a:r>
            <a:r>
              <a:rPr lang="en-US" sz="1300" b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 err="1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Hóa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6"/>
          <p:cNvSpPr/>
          <p:nvPr/>
        </p:nvSpPr>
        <p:spPr>
          <a:xfrm>
            <a:off x="7397496" y="2468880"/>
            <a:ext cx="1206900" cy="27300"/>
          </a:xfrm>
          <a:prstGeom prst="rect">
            <a:avLst/>
          </a:prstGeom>
          <a:solidFill>
            <a:srgbClr val="22C55E"/>
          </a:solidFill>
          <a:ln w="12700" cap="flat" cmpd="sng">
            <a:solidFill>
              <a:srgbClr val="22C55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26"/>
          <p:cNvSpPr/>
          <p:nvPr/>
        </p:nvSpPr>
        <p:spPr>
          <a:xfrm>
            <a:off x="7059168" y="2578608"/>
            <a:ext cx="1883700" cy="21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Khớp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nối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chương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trình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đào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tạo</a:t>
            </a:r>
            <a:endParaRPr lang="en-US" sz="1100" b="0" i="0" u="none" strike="noStrike" cap="non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Đề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xuất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thông</a:t>
            </a:r>
            <a:r>
              <a:rPr lang="en-US" sz="11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u="none" strike="noStrike" cap="none" err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minh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82470F2-D23B-3DA5-F846-4D3D828D3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D1A"/>
        </a:solidFill>
        <a:effectLst/>
      </p:bgPr>
    </p:bg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7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27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91" name="Google Shape;991;p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D1A"/>
          </a:solidFill>
          <a:ln w="12700" cap="flat" cmpd="sng">
            <a:solidFill>
              <a:srgbClr val="060D1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27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"EduGuard AI không cố thay thế giáo viên.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7"/>
          <p:cNvSpPr/>
          <p:nvPr/>
        </p:nvSpPr>
        <p:spPr>
          <a:xfrm>
            <a:off x="457200" y="1335024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EduGuard AI giúp giáo viên phát hiện đúng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7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sinh viên cần được cứu sớm nhất."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7"/>
          <p:cNvSpPr/>
          <p:nvPr/>
        </p:nvSpPr>
        <p:spPr>
          <a:xfrm>
            <a:off x="1828800" y="2651760"/>
            <a:ext cx="5486400" cy="36576"/>
          </a:xfrm>
          <a:prstGeom prst="rect">
            <a:avLst/>
          </a:prstGeom>
          <a:solidFill>
            <a:srgbClr val="3B82F6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27"/>
          <p:cNvSpPr/>
          <p:nvPr/>
        </p:nvSpPr>
        <p:spPr>
          <a:xfrm>
            <a:off x="457200" y="2852928"/>
            <a:ext cx="2029968" cy="329184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1D4ED8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27"/>
          <p:cNvSpPr/>
          <p:nvPr/>
        </p:nvSpPr>
        <p:spPr>
          <a:xfrm>
            <a:off x="457200" y="2852928"/>
            <a:ext cx="20299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AI + DSS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27"/>
          <p:cNvSpPr/>
          <p:nvPr/>
        </p:nvSpPr>
        <p:spPr>
          <a:xfrm>
            <a:off x="2633472" y="2852928"/>
            <a:ext cx="2029968" cy="329184"/>
          </a:xfrm>
          <a:prstGeom prst="rect">
            <a:avLst/>
          </a:prstGeom>
          <a:solidFill>
            <a:srgbClr val="14532D"/>
          </a:solidFill>
          <a:ln w="12700" cap="flat" cmpd="sng">
            <a:solidFill>
              <a:srgbClr val="14532D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27"/>
          <p:cNvSpPr/>
          <p:nvPr/>
        </p:nvSpPr>
        <p:spPr>
          <a:xfrm>
            <a:off x="2633472" y="2852928"/>
            <a:ext cx="20299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XAI — Giải thích được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7"/>
          <p:cNvSpPr/>
          <p:nvPr/>
        </p:nvSpPr>
        <p:spPr>
          <a:xfrm>
            <a:off x="4809744" y="2852928"/>
            <a:ext cx="2029968" cy="329184"/>
          </a:xfrm>
          <a:prstGeom prst="rect">
            <a:avLst/>
          </a:prstGeom>
          <a:solidFill>
            <a:srgbClr val="1E1B4B"/>
          </a:solidFill>
          <a:ln w="12700" cap="flat" cmpd="sng">
            <a:solidFill>
              <a:srgbClr val="1E1B4B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27"/>
          <p:cNvSpPr/>
          <p:nvPr/>
        </p:nvSpPr>
        <p:spPr>
          <a:xfrm>
            <a:off x="4809744" y="2852928"/>
            <a:ext cx="20299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NLP Tiếng Việt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7"/>
          <p:cNvSpPr/>
          <p:nvPr/>
        </p:nvSpPr>
        <p:spPr>
          <a:xfrm>
            <a:off x="6986016" y="2852928"/>
            <a:ext cx="2029968" cy="329184"/>
          </a:xfrm>
          <a:prstGeom prst="rect">
            <a:avLst/>
          </a:prstGeom>
          <a:solidFill>
            <a:srgbClr val="4C1D95"/>
          </a:solidFill>
          <a:ln w="12700" cap="flat" cmpd="sng">
            <a:solidFill>
              <a:srgbClr val="4C1D95"/>
            </a:solidFill>
            <a:prstDash val="solid"/>
            <a:round/>
            <a:headEnd type="none" w="sm" len="sm"/>
            <a:tailEnd type="none" w="sm" len="sm"/>
          </a:ln>
          <a:effectLst>
            <a:outerShdw blurRad="152400" dist="50800" dir="8100000" algn="bl" rotWithShape="0">
              <a:srgbClr val="000000">
                <a:alpha val="3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27"/>
          <p:cNvSpPr/>
          <p:nvPr/>
        </p:nvSpPr>
        <p:spPr>
          <a:xfrm>
            <a:off x="6986016" y="2852928"/>
            <a:ext cx="20299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Privacy-First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27"/>
          <p:cNvSpPr/>
          <p:nvPr/>
        </p:nvSpPr>
        <p:spPr>
          <a:xfrm>
            <a:off x="457200" y="336499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Cảm ơn Hội đồng đã lắng nghe!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7"/>
          <p:cNvSpPr/>
          <p:nvPr/>
        </p:nvSpPr>
        <p:spPr>
          <a:xfrm>
            <a:off x="2743200" y="3977640"/>
            <a:ext cx="3657600" cy="347472"/>
          </a:xfrm>
          <a:prstGeom prst="rect">
            <a:avLst/>
          </a:prstGeom>
          <a:solidFill>
            <a:srgbClr val="1D4ED8"/>
          </a:solidFill>
          <a:ln w="1270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  <a:effectLst>
            <a:outerShdw blurRad="279400" dist="50800" dir="5400000" algn="bl" rotWithShape="0">
              <a:srgbClr val="3B82F6">
                <a:alpha val="4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27"/>
          <p:cNvSpPr/>
          <p:nvPr/>
        </p:nvSpPr>
        <p:spPr>
          <a:xfrm>
            <a:off x="2743200" y="397764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  EduGuard AI  |  SmartGen AI 2026  |  FPT Polytechnic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FFC0A-E763-3212-C6B6-9506DA8B7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397" y="-1"/>
            <a:ext cx="2289601" cy="7339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2354</Words>
  <Application>Microsoft Office PowerPoint</Application>
  <PresentationFormat>On-screen Show (16:9)</PresentationFormat>
  <Paragraphs>573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Trung Nguyễn</dc:creator>
  <cp:lastModifiedBy>Trung Nguyễn</cp:lastModifiedBy>
  <cp:revision>21</cp:revision>
  <dcterms:modified xsi:type="dcterms:W3CDTF">2026-06-01T13:32:06Z</dcterms:modified>
</cp:coreProperties>
</file>